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09" r:id="rId1"/>
  </p:sldMasterIdLst>
  <p:notesMasterIdLst>
    <p:notesMasterId r:id="rId16"/>
  </p:notesMasterIdLst>
  <p:sldIdLst>
    <p:sldId id="256" r:id="rId2"/>
    <p:sldId id="257" r:id="rId3"/>
    <p:sldId id="258" r:id="rId4"/>
    <p:sldId id="259" r:id="rId5"/>
    <p:sldId id="260" r:id="rId6"/>
    <p:sldId id="266" r:id="rId7"/>
    <p:sldId id="262" r:id="rId8"/>
    <p:sldId id="267" r:id="rId9"/>
    <p:sldId id="263" r:id="rId10"/>
    <p:sldId id="268" r:id="rId11"/>
    <p:sldId id="261" r:id="rId12"/>
    <p:sldId id="264" r:id="rId13"/>
    <p:sldId id="265" r:id="rId14"/>
    <p:sldId id="269" r:id="rId15"/>
  </p:sldIdLst>
  <p:sldSz cx="14630400" cy="8229600"/>
  <p:notesSz cx="8229600" cy="14630400"/>
  <p:embeddedFontLst>
    <p:embeddedFont>
      <p:font typeface="DM Sans" pitchFamily="2" charset="0"/>
      <p:regular r:id="rId17"/>
      <p:bold r:id="rId18"/>
      <p:italic r:id="rId19"/>
      <p:boldItalic r:id="rId20"/>
    </p:embeddedFont>
    <p:embeddedFont>
      <p:font typeface="Libre Baskerville" panose="02000000000000000000" pitchFamily="2" charset="0"/>
      <p:regular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1EEA79-8E1F-4B22-8A38-9D4E2CD13723}" v="1" dt="2025-12-07T21:01:29.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74" d="100"/>
          <a:sy n="74" d="100"/>
        </p:scale>
        <p:origin x="47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ja Emam" userId="4634bbd90d3071e3" providerId="LiveId" clId="{D75D0D04-F72C-47E1-B713-B82A120B0DAC}"/>
    <pc:docChg chg="custSel modSld">
      <pc:chgData name="saja Emam" userId="4634bbd90d3071e3" providerId="LiveId" clId="{D75D0D04-F72C-47E1-B713-B82A120B0DAC}" dt="2025-12-07T21:02:04.169" v="12" actId="14100"/>
      <pc:docMkLst>
        <pc:docMk/>
      </pc:docMkLst>
      <pc:sldChg chg="addSp delSp modSp mod">
        <pc:chgData name="saja Emam" userId="4634bbd90d3071e3" providerId="LiveId" clId="{D75D0D04-F72C-47E1-B713-B82A120B0DAC}" dt="2025-12-07T21:02:04.169" v="12" actId="14100"/>
        <pc:sldMkLst>
          <pc:docMk/>
          <pc:sldMk cId="0" sldId="259"/>
        </pc:sldMkLst>
        <pc:picChg chg="add mod">
          <ac:chgData name="saja Emam" userId="4634bbd90d3071e3" providerId="LiveId" clId="{D75D0D04-F72C-47E1-B713-B82A120B0DAC}" dt="2025-12-07T21:02:04.169" v="12" actId="14100"/>
          <ac:picMkLst>
            <pc:docMk/>
            <pc:sldMk cId="0" sldId="259"/>
            <ac:picMk id="2" creationId="{FED0AD9A-F8D8-61AE-344B-32F8C7C86557}"/>
          </ac:picMkLst>
        </pc:picChg>
        <pc:picChg chg="del mod">
          <ac:chgData name="saja Emam" userId="4634bbd90d3071e3" providerId="LiveId" clId="{D75D0D04-F72C-47E1-B713-B82A120B0DAC}" dt="2025-12-07T21:01:34.111" v="3" actId="478"/>
          <ac:picMkLst>
            <pc:docMk/>
            <pc:sldMk cId="0" sldId="259"/>
            <ac:picMk id="18" creationId="{00B3DDA3-591E-5FB9-0DC7-B7B16F13249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1303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1887B-D9B5-72FA-C43A-A2CD93760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0489F-52BE-02A9-A8BA-F263EF781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75860-D663-F138-733B-9AFBA10DC0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84DE11-7D80-18E8-2B31-C2CC38DF25C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929894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316736" y="910742"/>
            <a:ext cx="12070080" cy="4279392"/>
          </a:xfrm>
        </p:spPr>
        <p:txBody>
          <a:bodyPr anchor="b">
            <a:normAutofit/>
          </a:bodyPr>
          <a:lstStyle>
            <a:lvl1pPr algn="l">
              <a:lnSpc>
                <a:spcPct val="85000"/>
              </a:lnSpc>
              <a:defRPr sz="9600" spc="-6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320061" y="5346745"/>
            <a:ext cx="12070080" cy="1371600"/>
          </a:xfrm>
        </p:spPr>
        <p:txBody>
          <a:bodyPr lIns="91440" rIns="91440">
            <a:normAutofit/>
          </a:bodyPr>
          <a:lstStyle>
            <a:lvl1pPr marL="0" indent="0" algn="l">
              <a:buNone/>
              <a:defRPr sz="2880" cap="all" spc="240" baseline="0">
                <a:solidFill>
                  <a:schemeClr val="tx2"/>
                </a:solidFill>
                <a:latin typeface="+mj-lt"/>
              </a:defRPr>
            </a:lvl1pPr>
            <a:lvl2pPr marL="548640" indent="0" algn="ctr">
              <a:buNone/>
              <a:defRPr sz="2880"/>
            </a:lvl2pPr>
            <a:lvl3pPr marL="1097280" indent="0" algn="ctr">
              <a:buNone/>
              <a:defRPr sz="2880"/>
            </a:lvl3pPr>
            <a:lvl4pPr marL="1645920" indent="0" algn="ctr">
              <a:buNone/>
              <a:defRPr sz="2400"/>
            </a:lvl4pPr>
            <a:lvl5pPr marL="2194560" indent="0" algn="ctr">
              <a:buNone/>
              <a:defRPr sz="2400"/>
            </a:lvl5pPr>
            <a:lvl6pPr marL="2743200" indent="0" algn="ctr">
              <a:buNone/>
              <a:defRPr sz="2400"/>
            </a:lvl6pPr>
            <a:lvl7pPr marL="3291840" indent="0" algn="ctr">
              <a:buNone/>
              <a:defRPr sz="2400"/>
            </a:lvl7pPr>
            <a:lvl8pPr marL="3840480" indent="0" algn="ctr">
              <a:buNone/>
              <a:defRPr sz="2400"/>
            </a:lvl8pPr>
            <a:lvl9pPr marL="438912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70985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888706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16736" y="910742"/>
            <a:ext cx="12070080" cy="4279392"/>
          </a:xfrm>
        </p:spPr>
        <p:txBody>
          <a:bodyPr anchor="b" anchorCtr="0">
            <a:normAutofit/>
          </a:bodyPr>
          <a:lstStyle>
            <a:lvl1pPr>
              <a:lnSpc>
                <a:spcPct val="85000"/>
              </a:lnSpc>
              <a:defRPr sz="96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16736" y="5343754"/>
            <a:ext cx="12070080" cy="1371600"/>
          </a:xfrm>
        </p:spPr>
        <p:txBody>
          <a:bodyPr lIns="91440" rIns="91440" anchor="t" anchorCtr="0">
            <a:normAutofit/>
          </a:bodyPr>
          <a:lstStyle>
            <a:lvl1pPr marL="0" indent="0">
              <a:buNone/>
              <a:defRPr sz="2880" cap="all" spc="240" baseline="0">
                <a:solidFill>
                  <a:schemeClr val="tx2"/>
                </a:solidFill>
                <a:latin typeface="+mj-lt"/>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729736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316736" y="343924"/>
            <a:ext cx="12070080" cy="174090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16734" y="2214881"/>
            <a:ext cx="5925312"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61504" y="2214882"/>
            <a:ext cx="5925312"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650003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316736" y="343924"/>
            <a:ext cx="12070080" cy="174090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16736"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16736" y="3098801"/>
            <a:ext cx="5925312" cy="4053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61504"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61504" y="3098801"/>
            <a:ext cx="5925312" cy="4053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410230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0089243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811" y="7680960"/>
            <a:ext cx="14626590" cy="54864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9" y="7601179"/>
            <a:ext cx="14626590" cy="768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05283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0" y="0"/>
            <a:ext cx="4860949" cy="82296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848085" y="0"/>
            <a:ext cx="76810" cy="8229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8640" y="713231"/>
            <a:ext cx="3840480" cy="2743200"/>
          </a:xfrm>
        </p:spPr>
        <p:txBody>
          <a:bodyPr anchor="b">
            <a:normAutofit/>
          </a:bodyPr>
          <a:lstStyle>
            <a:lvl1pPr>
              <a:defRPr sz="43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60720" y="877824"/>
            <a:ext cx="7790688" cy="6309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8640" y="3511296"/>
            <a:ext cx="3840480" cy="4054949"/>
          </a:xfrm>
        </p:spPr>
        <p:txBody>
          <a:bodyPr lIns="91440" rIns="91440">
            <a:normAutofit/>
          </a:bodyPr>
          <a:lstStyle>
            <a:lvl1pPr marL="0" indent="0">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a:xfrm>
            <a:off x="558614" y="7751743"/>
            <a:ext cx="3142212" cy="438150"/>
          </a:xfrm>
        </p:spPr>
        <p:txBody>
          <a:bodyPr/>
          <a:lstStyle>
            <a:lvl1pPr algn="l">
              <a:defRPr/>
            </a:lvl1pPr>
          </a:lstStyle>
          <a:p>
            <a:fld id="{B61BEF0D-F0BB-DE4B-95CE-6DB70DBA9567}" type="datetimeFigureOut">
              <a:rPr lang="en-US" smtClean="0"/>
              <a:pPr/>
              <a:t>12/7/2025</a:t>
            </a:fld>
            <a:endParaRPr lang="en-US" dirty="0"/>
          </a:p>
        </p:txBody>
      </p:sp>
      <p:sp>
        <p:nvSpPr>
          <p:cNvPr id="6" name="Footer Placeholder 5"/>
          <p:cNvSpPr>
            <a:spLocks noGrp="1"/>
          </p:cNvSpPr>
          <p:nvPr>
            <p:ph type="ftr" sz="quarter" idx="11"/>
          </p:nvPr>
        </p:nvSpPr>
        <p:spPr>
          <a:xfrm>
            <a:off x="5760720" y="7751743"/>
            <a:ext cx="5577840" cy="438150"/>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1533684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5943600"/>
            <a:ext cx="14626590" cy="2286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9" y="5898091"/>
            <a:ext cx="14626590" cy="768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16737" y="6089904"/>
            <a:ext cx="12136374" cy="987552"/>
          </a:xfrm>
        </p:spPr>
        <p:txBody>
          <a:bodyPr lIns="91440" tIns="0" rIns="91440" bIns="0" anchor="b">
            <a:noAutofit/>
          </a:bodyPr>
          <a:lstStyle>
            <a:lvl1pPr>
              <a:defRPr sz="432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9" y="0"/>
            <a:ext cx="14630382" cy="5898091"/>
          </a:xfrm>
          <a:solidFill>
            <a:schemeClr val="bg2">
              <a:lumMod val="90000"/>
            </a:schemeClr>
          </a:solidFill>
        </p:spPr>
        <p:txBody>
          <a:bodyPr lIns="457200" tIns="457200"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316736" y="7088429"/>
            <a:ext cx="12135917" cy="713232"/>
          </a:xfrm>
        </p:spPr>
        <p:txBody>
          <a:bodyPr lIns="91440" tIns="0" rIns="91440" bIns="0">
            <a:normAutofit/>
          </a:bodyPr>
          <a:lstStyle>
            <a:lvl1pPr marL="0" indent="0">
              <a:spcBef>
                <a:spcPts val="0"/>
              </a:spcBef>
              <a:spcAft>
                <a:spcPts val="720"/>
              </a:spcAft>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0644953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5814833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469880" y="494762"/>
            <a:ext cx="3154680" cy="691187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94762"/>
            <a:ext cx="9281160" cy="691187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00221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87585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65958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9864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8207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7680960"/>
            <a:ext cx="14630400" cy="54864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9" y="7601179"/>
            <a:ext cx="14630382" cy="7978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316736" y="343924"/>
            <a:ext cx="12070080" cy="17409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316736" y="2214881"/>
            <a:ext cx="12070080" cy="4828032"/>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16737" y="7751743"/>
            <a:ext cx="2966725" cy="438150"/>
          </a:xfrm>
          <a:prstGeom prst="rect">
            <a:avLst/>
          </a:prstGeom>
        </p:spPr>
        <p:txBody>
          <a:bodyPr vert="horz" lIns="91440" tIns="45720" rIns="91440" bIns="45720" rtlCol="0" anchor="ctr"/>
          <a:lstStyle>
            <a:lvl1pPr algn="l">
              <a:defRPr sz="1080">
                <a:solidFill>
                  <a:srgbClr val="FFFFFF"/>
                </a:solidFill>
              </a:defRPr>
            </a:lvl1p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3"/>
          </p:nvPr>
        </p:nvSpPr>
        <p:spPr>
          <a:xfrm>
            <a:off x="4423422" y="7751743"/>
            <a:ext cx="5787365" cy="438150"/>
          </a:xfrm>
          <a:prstGeom prst="rect">
            <a:avLst/>
          </a:prstGeom>
        </p:spPr>
        <p:txBody>
          <a:bodyPr vert="horz" lIns="91440" tIns="45720" rIns="91440" bIns="45720" rtlCol="0" anchor="ctr"/>
          <a:lstStyle>
            <a:lvl1pPr algn="ctr">
              <a:defRPr sz="108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1880550" y="7751743"/>
            <a:ext cx="1574430" cy="438150"/>
          </a:xfrm>
          <a:prstGeom prst="rect">
            <a:avLst/>
          </a:prstGeom>
        </p:spPr>
        <p:txBody>
          <a:bodyPr vert="horz" lIns="91440" tIns="45720" rIns="91440" bIns="45720" rtlCol="0" anchor="ctr"/>
          <a:lstStyle>
            <a:lvl1pPr algn="r">
              <a:defRPr sz="126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432238" y="2085414"/>
            <a:ext cx="1196035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092464"/>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Lst>
  <p:hf sldNum="0" hdr="0" ftr="0" dt="0"/>
  <p:txStyles>
    <p:title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p:titleStyle>
    <p:bodyStyle>
      <a:lvl1pPr marL="109728" indent="-109728" algn="l" defTabSz="1097280" rtl="0" eaLnBrk="1" latinLnBrk="0" hangingPunct="1">
        <a:lnSpc>
          <a:spcPct val="90000"/>
        </a:lnSpc>
        <a:spcBef>
          <a:spcPts val="1440"/>
        </a:spcBef>
        <a:spcAft>
          <a:spcPts val="24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460858" indent="-219456" algn="l" defTabSz="1097280" rtl="0" eaLnBrk="1" latinLnBrk="0" hangingPunct="1">
        <a:lnSpc>
          <a:spcPct val="90000"/>
        </a:lnSpc>
        <a:spcBef>
          <a:spcPts val="240"/>
        </a:spcBef>
        <a:spcAft>
          <a:spcPts val="480"/>
        </a:spcAft>
        <a:buClr>
          <a:schemeClr val="accent1"/>
        </a:buClr>
        <a:buFont typeface="Calibri" pitchFamily="34" charset="0"/>
        <a:buChar char="◦"/>
        <a:defRPr sz="2160" kern="1200">
          <a:solidFill>
            <a:schemeClr val="tx1">
              <a:lumMod val="75000"/>
              <a:lumOff val="25000"/>
            </a:schemeClr>
          </a:solidFill>
          <a:latin typeface="+mn-lt"/>
          <a:ea typeface="+mn-ea"/>
          <a:cs typeface="+mn-cs"/>
        </a:defRPr>
      </a:lvl2pPr>
      <a:lvl3pPr marL="680314"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3pPr>
      <a:lvl4pPr marL="899770"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4pPr>
      <a:lvl5pPr marL="1119226"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5pPr>
      <a:lvl6pPr marL="132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6pPr>
      <a:lvl7pPr marL="156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7pPr>
      <a:lvl8pPr marL="180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8pPr>
      <a:lvl9pPr marL="204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0"/>
          <p:cNvSpPr/>
          <p:nvPr/>
        </p:nvSpPr>
        <p:spPr>
          <a:xfrm>
            <a:off x="7409201" y="799576"/>
            <a:ext cx="5962187" cy="1216560"/>
          </a:xfrm>
          <a:prstGeom prst="rect">
            <a:avLst/>
          </a:prstGeom>
        </p:spPr>
        <p:txBody>
          <a:bodyPr vert="horz" lIns="91440" tIns="45720" rIns="91440" bIns="45720" rtlCol="0" anchor="b">
            <a:normAutofit/>
          </a:bodyPr>
          <a:lstStyle/>
          <a:p>
            <a:pPr marL="0" indent="0">
              <a:spcBef>
                <a:spcPct val="0"/>
              </a:spcBef>
              <a:spcAft>
                <a:spcPts val="600"/>
              </a:spcAft>
            </a:pPr>
            <a:r>
              <a:rPr lang="en-US" sz="2800" cap="all" dirty="0">
                <a:solidFill>
                  <a:schemeClr val="tx2"/>
                </a:solidFill>
                <a:latin typeface="+mj-lt"/>
                <a:ea typeface="+mj-ea"/>
                <a:cs typeface="+mj-cs"/>
              </a:rPr>
              <a:t>Customer Churn Prediction Project</a:t>
            </a:r>
          </a:p>
        </p:txBody>
      </p:sp>
      <p:sp>
        <p:nvSpPr>
          <p:cNvPr id="4" name="Text 1"/>
          <p:cNvSpPr/>
          <p:nvPr/>
        </p:nvSpPr>
        <p:spPr>
          <a:xfrm>
            <a:off x="7102211" y="1125504"/>
            <a:ext cx="5936665" cy="5368814"/>
          </a:xfrm>
          <a:prstGeom prst="rect">
            <a:avLst/>
          </a:prstGeom>
        </p:spPr>
        <p:txBody>
          <a:bodyPr vert="horz" lIns="91440" tIns="45720" rIns="91440" bIns="45720" rtlCol="0" anchor="ctr">
            <a:normAutofit/>
          </a:bodyPr>
          <a:lstStyle/>
          <a:p>
            <a:pPr marL="0" indent="0">
              <a:spcBef>
                <a:spcPct val="20000"/>
              </a:spcBef>
              <a:spcAft>
                <a:spcPts val="600"/>
              </a:spcAft>
              <a:buClr>
                <a:schemeClr val="accent2"/>
              </a:buClr>
              <a:buSzPct val="92000"/>
            </a:pPr>
            <a:r>
              <a:rPr lang="en-US" sz="2000" dirty="0">
                <a:solidFill>
                  <a:schemeClr val="tx2"/>
                </a:solidFill>
              </a:rPr>
              <a:t>Understanding why customers leave is crucial for any business. This project delves into customer behavior to identify patterns leading to churn, enabling proactive retention strategies.</a:t>
            </a:r>
          </a:p>
        </p:txBody>
      </p:sp>
      <p:pic>
        <p:nvPicPr>
          <p:cNvPr id="8" name="Picture 7" descr="A group of people running&#10;&#10;AI-generated content may be incorrect.">
            <a:extLst>
              <a:ext uri="{FF2B5EF4-FFF2-40B4-BE49-F238E27FC236}">
                <a16:creationId xmlns:a16="http://schemas.microsoft.com/office/drawing/2014/main" id="{97A7BED8-FEC4-8E45-53AF-BFC44DB240FB}"/>
              </a:ext>
            </a:extLst>
          </p:cNvPr>
          <p:cNvPicPr>
            <a:picLocks noChangeAspect="1"/>
          </p:cNvPicPr>
          <p:nvPr/>
        </p:nvPicPr>
        <p:blipFill>
          <a:blip r:embed="rId3"/>
          <a:stretch>
            <a:fillRect/>
          </a:stretch>
        </p:blipFill>
        <p:spPr>
          <a:xfrm>
            <a:off x="0" y="0"/>
            <a:ext cx="6941127" cy="761653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302782"/>
            <a:ext cx="6009561" cy="566976"/>
          </a:xfrm>
          <a:prstGeom prst="rect">
            <a:avLst/>
          </a:prstGeom>
          <a:noFill/>
          <a:ln/>
        </p:spPr>
        <p:txBody>
          <a:bodyPr wrap="non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What is Customer Churn?</a:t>
            </a:r>
            <a:endParaRPr lang="en-US" sz="3550" dirty="0"/>
          </a:p>
        </p:txBody>
      </p:sp>
      <p:sp>
        <p:nvSpPr>
          <p:cNvPr id="3" name="Shape 1"/>
          <p:cNvSpPr/>
          <p:nvPr/>
        </p:nvSpPr>
        <p:spPr>
          <a:xfrm>
            <a:off x="793790" y="3230523"/>
            <a:ext cx="4196358" cy="3129201"/>
          </a:xfrm>
          <a:prstGeom prst="roundRect">
            <a:avLst>
              <a:gd name="adj" fmla="val 4675"/>
            </a:avLst>
          </a:prstGeom>
          <a:solidFill>
            <a:srgbClr val="FFFDFA"/>
          </a:solidFill>
          <a:ln/>
        </p:spPr>
        <p:txBody>
          <a:bodyPr/>
          <a:lstStyle/>
          <a:p>
            <a:endParaRPr lang="en-GB"/>
          </a:p>
        </p:txBody>
      </p:sp>
      <p:sp>
        <p:nvSpPr>
          <p:cNvPr id="4" name="Shape 2"/>
          <p:cNvSpPr/>
          <p:nvPr/>
        </p:nvSpPr>
        <p:spPr>
          <a:xfrm>
            <a:off x="793790" y="3200043"/>
            <a:ext cx="4196358" cy="121920"/>
          </a:xfrm>
          <a:prstGeom prst="roundRect">
            <a:avLst>
              <a:gd name="adj" fmla="val 78139"/>
            </a:avLst>
          </a:prstGeom>
          <a:solidFill>
            <a:srgbClr val="B88E23"/>
          </a:solidFill>
          <a:ln/>
        </p:spPr>
        <p:txBody>
          <a:bodyPr/>
          <a:lstStyle/>
          <a:p>
            <a:endParaRPr lang="en-GB"/>
          </a:p>
        </p:txBody>
      </p:sp>
      <p:sp>
        <p:nvSpPr>
          <p:cNvPr id="5" name="Shape 3"/>
          <p:cNvSpPr/>
          <p:nvPr/>
        </p:nvSpPr>
        <p:spPr>
          <a:xfrm>
            <a:off x="2551688" y="2890361"/>
            <a:ext cx="680442" cy="680442"/>
          </a:xfrm>
          <a:prstGeom prst="roundRect">
            <a:avLst>
              <a:gd name="adj" fmla="val 134383"/>
            </a:avLst>
          </a:prstGeom>
          <a:solidFill>
            <a:srgbClr val="B88E23"/>
          </a:solidFill>
          <a:ln/>
        </p:spPr>
        <p:txBody>
          <a:bodyPr/>
          <a:lstStyle/>
          <a:p>
            <a:endParaRPr lang="en-GB"/>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55761" y="3094434"/>
            <a:ext cx="272177" cy="272177"/>
          </a:xfrm>
          <a:prstGeom prst="rect">
            <a:avLst/>
          </a:prstGeom>
        </p:spPr>
      </p:pic>
      <p:sp>
        <p:nvSpPr>
          <p:cNvPr id="7" name="Text 4"/>
          <p:cNvSpPr/>
          <p:nvPr/>
        </p:nvSpPr>
        <p:spPr>
          <a:xfrm>
            <a:off x="1051084" y="379749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Definition</a:t>
            </a:r>
            <a:endParaRPr lang="en-US" sz="2200" dirty="0"/>
          </a:p>
        </p:txBody>
      </p:sp>
      <p:sp>
        <p:nvSpPr>
          <p:cNvPr id="8" name="Text 5"/>
          <p:cNvSpPr/>
          <p:nvPr/>
        </p:nvSpPr>
        <p:spPr>
          <a:xfrm>
            <a:off x="1051084" y="4287917"/>
            <a:ext cx="3681770" cy="1814513"/>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Customer churn refers to the phenomenon where customers stop using a company's product or service, often switching to a competitor.</a:t>
            </a:r>
            <a:endParaRPr lang="en-US" sz="1750" dirty="0"/>
          </a:p>
        </p:txBody>
      </p:sp>
      <p:sp>
        <p:nvSpPr>
          <p:cNvPr id="9" name="Shape 6"/>
          <p:cNvSpPr/>
          <p:nvPr/>
        </p:nvSpPr>
        <p:spPr>
          <a:xfrm>
            <a:off x="5216962" y="3230523"/>
            <a:ext cx="4196358" cy="3129201"/>
          </a:xfrm>
          <a:prstGeom prst="roundRect">
            <a:avLst>
              <a:gd name="adj" fmla="val 4675"/>
            </a:avLst>
          </a:prstGeom>
          <a:solidFill>
            <a:srgbClr val="FFFDFA"/>
          </a:solidFill>
          <a:ln/>
        </p:spPr>
        <p:txBody>
          <a:bodyPr/>
          <a:lstStyle/>
          <a:p>
            <a:endParaRPr lang="en-GB"/>
          </a:p>
        </p:txBody>
      </p:sp>
      <p:sp>
        <p:nvSpPr>
          <p:cNvPr id="10" name="Shape 7"/>
          <p:cNvSpPr/>
          <p:nvPr/>
        </p:nvSpPr>
        <p:spPr>
          <a:xfrm>
            <a:off x="5216962" y="3200043"/>
            <a:ext cx="4196358" cy="121920"/>
          </a:xfrm>
          <a:prstGeom prst="roundRect">
            <a:avLst>
              <a:gd name="adj" fmla="val 78139"/>
            </a:avLst>
          </a:prstGeom>
          <a:solidFill>
            <a:srgbClr val="B88E23"/>
          </a:solidFill>
          <a:ln/>
        </p:spPr>
        <p:txBody>
          <a:bodyPr/>
          <a:lstStyle/>
          <a:p>
            <a:endParaRPr lang="en-GB"/>
          </a:p>
        </p:txBody>
      </p:sp>
      <p:sp>
        <p:nvSpPr>
          <p:cNvPr id="11" name="Shape 8"/>
          <p:cNvSpPr/>
          <p:nvPr/>
        </p:nvSpPr>
        <p:spPr>
          <a:xfrm>
            <a:off x="6974860" y="2890361"/>
            <a:ext cx="680442" cy="680442"/>
          </a:xfrm>
          <a:prstGeom prst="roundRect">
            <a:avLst>
              <a:gd name="adj" fmla="val 134383"/>
            </a:avLst>
          </a:prstGeom>
          <a:solidFill>
            <a:srgbClr val="B88E23"/>
          </a:solidFill>
          <a:ln/>
        </p:spPr>
        <p:txBody>
          <a:bodyPr/>
          <a:lstStyle/>
          <a:p>
            <a:endParaRPr lang="en-GB"/>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78933" y="3094434"/>
            <a:ext cx="272177" cy="272177"/>
          </a:xfrm>
          <a:prstGeom prst="rect">
            <a:avLst/>
          </a:prstGeom>
        </p:spPr>
      </p:pic>
      <p:sp>
        <p:nvSpPr>
          <p:cNvPr id="13" name="Text 9"/>
          <p:cNvSpPr/>
          <p:nvPr/>
        </p:nvSpPr>
        <p:spPr>
          <a:xfrm>
            <a:off x="5474256" y="379749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Impact</a:t>
            </a:r>
            <a:endParaRPr lang="en-US" sz="2200" dirty="0"/>
          </a:p>
        </p:txBody>
      </p:sp>
      <p:sp>
        <p:nvSpPr>
          <p:cNvPr id="14" name="Text 10"/>
          <p:cNvSpPr/>
          <p:nvPr/>
        </p:nvSpPr>
        <p:spPr>
          <a:xfrm>
            <a:off x="5474256" y="4287917"/>
            <a:ext cx="3681770" cy="1814513"/>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High churn rates can significantly impact revenue, growth, and brand reputation. Retaining existing customers is often more cost-effective than acquiring new ones.</a:t>
            </a:r>
            <a:endParaRPr lang="en-US" sz="1750" dirty="0"/>
          </a:p>
        </p:txBody>
      </p:sp>
      <p:sp>
        <p:nvSpPr>
          <p:cNvPr id="15" name="Shape 11"/>
          <p:cNvSpPr/>
          <p:nvPr/>
        </p:nvSpPr>
        <p:spPr>
          <a:xfrm>
            <a:off x="9640133" y="3230523"/>
            <a:ext cx="4196358" cy="3129201"/>
          </a:xfrm>
          <a:prstGeom prst="roundRect">
            <a:avLst>
              <a:gd name="adj" fmla="val 4675"/>
            </a:avLst>
          </a:prstGeom>
          <a:solidFill>
            <a:srgbClr val="FFFDFA"/>
          </a:solidFill>
          <a:ln/>
        </p:spPr>
        <p:txBody>
          <a:bodyPr/>
          <a:lstStyle/>
          <a:p>
            <a:endParaRPr lang="en-GB"/>
          </a:p>
        </p:txBody>
      </p:sp>
      <p:sp>
        <p:nvSpPr>
          <p:cNvPr id="16" name="Shape 12"/>
          <p:cNvSpPr/>
          <p:nvPr/>
        </p:nvSpPr>
        <p:spPr>
          <a:xfrm>
            <a:off x="9640133" y="3200043"/>
            <a:ext cx="4196358" cy="121920"/>
          </a:xfrm>
          <a:prstGeom prst="roundRect">
            <a:avLst>
              <a:gd name="adj" fmla="val 78139"/>
            </a:avLst>
          </a:prstGeom>
          <a:solidFill>
            <a:srgbClr val="B88E23"/>
          </a:solidFill>
          <a:ln/>
        </p:spPr>
        <p:txBody>
          <a:bodyPr/>
          <a:lstStyle/>
          <a:p>
            <a:endParaRPr lang="en-GB"/>
          </a:p>
        </p:txBody>
      </p:sp>
      <p:sp>
        <p:nvSpPr>
          <p:cNvPr id="17" name="Shape 13"/>
          <p:cNvSpPr/>
          <p:nvPr/>
        </p:nvSpPr>
        <p:spPr>
          <a:xfrm>
            <a:off x="11398032" y="2890361"/>
            <a:ext cx="680442" cy="680442"/>
          </a:xfrm>
          <a:prstGeom prst="roundRect">
            <a:avLst>
              <a:gd name="adj" fmla="val 134383"/>
            </a:avLst>
          </a:prstGeom>
          <a:solidFill>
            <a:srgbClr val="B88E23"/>
          </a:solidFill>
          <a:ln/>
        </p:spPr>
        <p:txBody>
          <a:bodyPr/>
          <a:lstStyle/>
          <a:p>
            <a:endParaRPr lang="en-GB"/>
          </a:p>
        </p:txBody>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02105" y="3094434"/>
            <a:ext cx="272177" cy="272177"/>
          </a:xfrm>
          <a:prstGeom prst="rect">
            <a:avLst/>
          </a:prstGeom>
        </p:spPr>
      </p:pic>
      <p:sp>
        <p:nvSpPr>
          <p:cNvPr id="19" name="Text 14"/>
          <p:cNvSpPr/>
          <p:nvPr/>
        </p:nvSpPr>
        <p:spPr>
          <a:xfrm>
            <a:off x="9897427" y="379749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Prediction</a:t>
            </a:r>
            <a:endParaRPr lang="en-US" sz="2200" dirty="0"/>
          </a:p>
        </p:txBody>
      </p:sp>
      <p:sp>
        <p:nvSpPr>
          <p:cNvPr id="20" name="Text 15"/>
          <p:cNvSpPr/>
          <p:nvPr/>
        </p:nvSpPr>
        <p:spPr>
          <a:xfrm>
            <a:off x="9897427" y="4287917"/>
            <a:ext cx="3681770" cy="1814513"/>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By analyzing historical data, we can predict which customers are at risk of churning, allowing businesses to intervene before it's too late.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200894" y="296108"/>
            <a:ext cx="7715012" cy="1020604"/>
          </a:xfrm>
          <a:prstGeom prst="rect">
            <a:avLst/>
          </a:prstGeom>
          <a:noFill/>
          <a:ln/>
        </p:spPr>
        <p:txBody>
          <a:bodyPr wrap="square" lIns="0" tIns="0" rIns="0" bIns="0" rtlCol="0" anchor="t"/>
          <a:lstStyle/>
          <a:p>
            <a:pPr marL="0" indent="0" algn="l">
              <a:lnSpc>
                <a:spcPts val="4000"/>
              </a:lnSpc>
              <a:buNone/>
            </a:pPr>
            <a:r>
              <a:rPr lang="en-US" sz="3200" dirty="0">
                <a:solidFill>
                  <a:srgbClr val="5C4E3D"/>
                </a:solidFill>
                <a:latin typeface="Libre Baskerville" pitchFamily="34" charset="0"/>
                <a:ea typeface="Libre Baskerville" pitchFamily="34" charset="-122"/>
                <a:cs typeface="Libre Baskerville" pitchFamily="34" charset="-120"/>
              </a:rPr>
              <a:t>Project Workflow: From Data to Actionable Insights</a:t>
            </a:r>
            <a:endParaRPr lang="en-US" sz="3200" dirty="0"/>
          </a:p>
        </p:txBody>
      </p:sp>
      <p:sp>
        <p:nvSpPr>
          <p:cNvPr id="4" name="Text 1"/>
          <p:cNvSpPr/>
          <p:nvPr/>
        </p:nvSpPr>
        <p:spPr>
          <a:xfrm>
            <a:off x="5972294" y="1316712"/>
            <a:ext cx="7715012" cy="318849"/>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Our project follows a structured approach, transforming raw customer data into predictive models and actionable business intelligence.</a:t>
            </a:r>
            <a:endParaRPr lang="en-US" sz="1600" dirty="0"/>
          </a:p>
        </p:txBody>
      </p:sp>
      <p:pic>
        <p:nvPicPr>
          <p:cNvPr id="5" name="Image 1" descr="preencoded.png"/>
          <p:cNvPicPr>
            <a:picLocks noChangeAspect="1"/>
          </p:cNvPicPr>
          <p:nvPr/>
        </p:nvPicPr>
        <p:blipFill>
          <a:blip r:embed="rId3"/>
          <a:stretch>
            <a:fillRect/>
          </a:stretch>
        </p:blipFill>
        <p:spPr>
          <a:xfrm>
            <a:off x="6200894" y="2541508"/>
            <a:ext cx="1020723" cy="1224796"/>
          </a:xfrm>
          <a:prstGeom prst="rect">
            <a:avLst/>
          </a:prstGeom>
        </p:spPr>
      </p:pic>
      <p:sp>
        <p:nvSpPr>
          <p:cNvPr id="6" name="Text 2"/>
          <p:cNvSpPr/>
          <p:nvPr/>
        </p:nvSpPr>
        <p:spPr>
          <a:xfrm>
            <a:off x="7425690" y="2975134"/>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rPr>
              <a:t>EDA/ETL</a:t>
            </a:r>
            <a:endParaRPr lang="en-US" sz="2000" dirty="0"/>
          </a:p>
        </p:txBody>
      </p:sp>
      <p:pic>
        <p:nvPicPr>
          <p:cNvPr id="7" name="Image 2" descr="preencoded.png"/>
          <p:cNvPicPr>
            <a:picLocks noChangeAspect="1"/>
          </p:cNvPicPr>
          <p:nvPr/>
        </p:nvPicPr>
        <p:blipFill>
          <a:blip r:embed="rId4"/>
          <a:stretch>
            <a:fillRect/>
          </a:stretch>
        </p:blipFill>
        <p:spPr>
          <a:xfrm>
            <a:off x="6200894" y="3850899"/>
            <a:ext cx="1020723" cy="1224796"/>
          </a:xfrm>
          <a:prstGeom prst="rect">
            <a:avLst/>
          </a:prstGeom>
        </p:spPr>
      </p:pic>
      <p:sp>
        <p:nvSpPr>
          <p:cNvPr id="8" name="Text 3"/>
          <p:cNvSpPr/>
          <p:nvPr/>
        </p:nvSpPr>
        <p:spPr>
          <a:xfrm>
            <a:off x="7425690" y="4199930"/>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Model Building</a:t>
            </a:r>
            <a:endParaRPr lang="en-US" sz="2000" dirty="0"/>
          </a:p>
        </p:txBody>
      </p:sp>
      <p:pic>
        <p:nvPicPr>
          <p:cNvPr id="9" name="Image 3" descr="preencoded.png"/>
          <p:cNvPicPr>
            <a:picLocks noChangeAspect="1"/>
          </p:cNvPicPr>
          <p:nvPr/>
        </p:nvPicPr>
        <p:blipFill>
          <a:blip r:embed="rId5"/>
          <a:stretch>
            <a:fillRect/>
          </a:stretch>
        </p:blipFill>
        <p:spPr>
          <a:xfrm>
            <a:off x="6200894" y="5075695"/>
            <a:ext cx="1020723" cy="1224796"/>
          </a:xfrm>
          <a:prstGeom prst="rect">
            <a:avLst/>
          </a:prstGeom>
        </p:spPr>
      </p:pic>
      <p:sp>
        <p:nvSpPr>
          <p:cNvPr id="10" name="Text 4"/>
          <p:cNvSpPr/>
          <p:nvPr/>
        </p:nvSpPr>
        <p:spPr>
          <a:xfrm>
            <a:off x="7425690" y="5424726"/>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Deployment</a:t>
            </a:r>
            <a:endParaRPr lang="en-US" sz="2000" dirty="0"/>
          </a:p>
        </p:txBody>
      </p:sp>
      <p:pic>
        <p:nvPicPr>
          <p:cNvPr id="11" name="Image 4" descr="preencoded.png"/>
          <p:cNvPicPr>
            <a:picLocks noChangeAspect="1"/>
          </p:cNvPicPr>
          <p:nvPr/>
        </p:nvPicPr>
        <p:blipFill>
          <a:blip r:embed="rId6"/>
          <a:stretch>
            <a:fillRect/>
          </a:stretch>
        </p:blipFill>
        <p:spPr>
          <a:xfrm>
            <a:off x="6200894" y="6300490"/>
            <a:ext cx="1020723" cy="1224796"/>
          </a:xfrm>
          <a:prstGeom prst="rect">
            <a:avLst/>
          </a:prstGeom>
        </p:spPr>
      </p:pic>
      <p:sp>
        <p:nvSpPr>
          <p:cNvPr id="12" name="Text 5"/>
          <p:cNvSpPr/>
          <p:nvPr/>
        </p:nvSpPr>
        <p:spPr>
          <a:xfrm>
            <a:off x="7425690" y="6649522"/>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Insights</a:t>
            </a:r>
            <a:endParaRPr lang="en-US" sz="2000" dirty="0"/>
          </a:p>
        </p:txBody>
      </p:sp>
      <p:pic>
        <p:nvPicPr>
          <p:cNvPr id="14" name="Picture 13" descr="A diagram of a diagram of data processing&#10;&#10;AI-generated content may be incorrect.">
            <a:extLst>
              <a:ext uri="{FF2B5EF4-FFF2-40B4-BE49-F238E27FC236}">
                <a16:creationId xmlns:a16="http://schemas.microsoft.com/office/drawing/2014/main" id="{7299A06C-E1B2-2EE6-70B4-D7059654AC4B}"/>
              </a:ext>
            </a:extLst>
          </p:cNvPr>
          <p:cNvPicPr>
            <a:picLocks noChangeAspect="1"/>
          </p:cNvPicPr>
          <p:nvPr/>
        </p:nvPicPr>
        <p:blipFill>
          <a:blip r:embed="rId7"/>
          <a:stretch>
            <a:fillRect/>
          </a:stretch>
        </p:blipFill>
        <p:spPr>
          <a:xfrm>
            <a:off x="0" y="0"/>
            <a:ext cx="5521226" cy="76061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793790" y="902613"/>
            <a:ext cx="6803588" cy="566976"/>
          </a:xfrm>
          <a:prstGeom prst="rect">
            <a:avLst/>
          </a:prstGeom>
          <a:noFill/>
          <a:ln/>
        </p:spPr>
        <p:txBody>
          <a:bodyPr wrap="non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Three Phases of Our Pipeline</a:t>
            </a:r>
            <a:endParaRPr lang="en-US" sz="3550" dirty="0"/>
          </a:p>
        </p:txBody>
      </p:sp>
      <p:sp>
        <p:nvSpPr>
          <p:cNvPr id="5" name="Text 2"/>
          <p:cNvSpPr/>
          <p:nvPr/>
        </p:nvSpPr>
        <p:spPr>
          <a:xfrm>
            <a:off x="1077278" y="2277547"/>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454240"/>
                </a:solidFill>
                <a:latin typeface="Libre Baskerville" pitchFamily="34" charset="0"/>
                <a:ea typeface="Libre Baskerville" pitchFamily="34" charset="-122"/>
                <a:cs typeface="Libre Baskerville" pitchFamily="34" charset="-120"/>
              </a:rPr>
              <a:t>1</a:t>
            </a:r>
            <a:endParaRPr lang="en-US" sz="2650" dirty="0"/>
          </a:p>
        </p:txBody>
      </p:sp>
      <p:sp>
        <p:nvSpPr>
          <p:cNvPr id="6" name="Text 3"/>
          <p:cNvSpPr/>
          <p:nvPr/>
        </p:nvSpPr>
        <p:spPr>
          <a:xfrm>
            <a:off x="1927860" y="2202050"/>
            <a:ext cx="3670221"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Phase 1: Data Preparation</a:t>
            </a:r>
            <a:endParaRPr lang="en-US" sz="2200" dirty="0"/>
          </a:p>
        </p:txBody>
      </p:sp>
      <p:sp>
        <p:nvSpPr>
          <p:cNvPr id="7" name="Text 4"/>
          <p:cNvSpPr/>
          <p:nvPr/>
        </p:nvSpPr>
        <p:spPr>
          <a:xfrm>
            <a:off x="1927860" y="2526983"/>
            <a:ext cx="6422350"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Extract, Load &amp; Clean Data for Analysis</a:t>
            </a:r>
            <a:endParaRPr lang="en-US" sz="1750" dirty="0"/>
          </a:p>
        </p:txBody>
      </p:sp>
      <p:sp>
        <p:nvSpPr>
          <p:cNvPr id="9" name="Text 6"/>
          <p:cNvSpPr/>
          <p:nvPr/>
        </p:nvSpPr>
        <p:spPr>
          <a:xfrm>
            <a:off x="1077278" y="3865245"/>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454240"/>
                </a:solidFill>
                <a:latin typeface="Libre Baskerville" pitchFamily="34" charset="0"/>
                <a:ea typeface="Libre Baskerville" pitchFamily="34" charset="-122"/>
                <a:cs typeface="Libre Baskerville" pitchFamily="34" charset="-120"/>
              </a:rPr>
              <a:t>2</a:t>
            </a:r>
            <a:endParaRPr lang="en-US" sz="2650" dirty="0"/>
          </a:p>
        </p:txBody>
      </p:sp>
      <p:sp>
        <p:nvSpPr>
          <p:cNvPr id="10" name="Text 7"/>
          <p:cNvSpPr/>
          <p:nvPr/>
        </p:nvSpPr>
        <p:spPr>
          <a:xfrm>
            <a:off x="1927860" y="3781175"/>
            <a:ext cx="327719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Phase 2: Orchestration</a:t>
            </a:r>
            <a:endParaRPr lang="en-US" sz="2200" dirty="0"/>
          </a:p>
        </p:txBody>
      </p:sp>
      <p:sp>
        <p:nvSpPr>
          <p:cNvPr id="11" name="Text 8"/>
          <p:cNvSpPr/>
          <p:nvPr/>
        </p:nvSpPr>
        <p:spPr>
          <a:xfrm>
            <a:off x="1927860" y="4114681"/>
            <a:ext cx="6422350"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Pipeline Orchestration &amp; Scheduling</a:t>
            </a:r>
            <a:endParaRPr lang="en-US" sz="1750" dirty="0"/>
          </a:p>
        </p:txBody>
      </p:sp>
      <p:sp>
        <p:nvSpPr>
          <p:cNvPr id="13" name="Text 10"/>
          <p:cNvSpPr/>
          <p:nvPr/>
        </p:nvSpPr>
        <p:spPr>
          <a:xfrm>
            <a:off x="1077278" y="5452943"/>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454240"/>
                </a:solidFill>
                <a:latin typeface="Libre Baskerville" pitchFamily="34" charset="0"/>
                <a:ea typeface="Libre Baskerville" pitchFamily="34" charset="-122"/>
                <a:cs typeface="Libre Baskerville" pitchFamily="34" charset="-120"/>
              </a:rPr>
              <a:t>3</a:t>
            </a:r>
            <a:endParaRPr lang="en-US" sz="2650" dirty="0"/>
          </a:p>
        </p:txBody>
      </p:sp>
      <p:sp>
        <p:nvSpPr>
          <p:cNvPr id="14" name="Text 11"/>
          <p:cNvSpPr/>
          <p:nvPr/>
        </p:nvSpPr>
        <p:spPr>
          <a:xfrm>
            <a:off x="1927860" y="5347552"/>
            <a:ext cx="312360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Phase 3: Visualization</a:t>
            </a:r>
            <a:endParaRPr lang="en-US" sz="2200" dirty="0"/>
          </a:p>
        </p:txBody>
      </p:sp>
      <p:sp>
        <p:nvSpPr>
          <p:cNvPr id="15" name="Text 12"/>
          <p:cNvSpPr/>
          <p:nvPr/>
        </p:nvSpPr>
        <p:spPr>
          <a:xfrm>
            <a:off x="1927860" y="5702379"/>
            <a:ext cx="6422350"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Insights &amp; Visualization with Power BI</a:t>
            </a:r>
            <a:endParaRPr lang="en-US" sz="1750" dirty="0"/>
          </a:p>
        </p:txBody>
      </p:sp>
      <p:sp>
        <p:nvSpPr>
          <p:cNvPr id="16" name="Text 13"/>
          <p:cNvSpPr/>
          <p:nvPr/>
        </p:nvSpPr>
        <p:spPr>
          <a:xfrm>
            <a:off x="793790" y="6601182"/>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Each phase was meticulously executed, leveraging specialized skills within our team to ensure robust and reliable results.</a:t>
            </a:r>
            <a:endParaRPr lang="en-US" sz="1750" dirty="0"/>
          </a:p>
        </p:txBody>
      </p:sp>
      <p:pic>
        <p:nvPicPr>
          <p:cNvPr id="2" name="Picture 1">
            <a:extLst>
              <a:ext uri="{FF2B5EF4-FFF2-40B4-BE49-F238E27FC236}">
                <a16:creationId xmlns:a16="http://schemas.microsoft.com/office/drawing/2014/main" id="{FED0AD9A-F8D8-61AE-344B-32F8C7C86557}"/>
              </a:ext>
            </a:extLst>
          </p:cNvPr>
          <p:cNvPicPr>
            <a:picLocks noChangeAspect="1"/>
          </p:cNvPicPr>
          <p:nvPr/>
        </p:nvPicPr>
        <p:blipFill>
          <a:blip r:embed="rId3"/>
          <a:stretch>
            <a:fillRect/>
          </a:stretch>
        </p:blipFill>
        <p:spPr>
          <a:xfrm>
            <a:off x="8645236" y="0"/>
            <a:ext cx="5985164" cy="76333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9" name="Text 6"/>
          <p:cNvSpPr/>
          <p:nvPr/>
        </p:nvSpPr>
        <p:spPr>
          <a:xfrm>
            <a:off x="702826" y="8285797"/>
            <a:ext cx="3877389" cy="219670"/>
          </a:xfrm>
          <a:prstGeom prst="rect">
            <a:avLst/>
          </a:prstGeom>
          <a:noFill/>
          <a:ln/>
        </p:spPr>
        <p:txBody>
          <a:bodyPr wrap="none" lIns="0" tIns="0" rIns="0" bIns="0" rtlCol="0" anchor="t"/>
          <a:lstStyle/>
          <a:p>
            <a:pPr marL="0" indent="0" algn="l">
              <a:lnSpc>
                <a:spcPts val="1700"/>
              </a:lnSpc>
              <a:buNone/>
            </a:pPr>
            <a:r>
              <a:rPr lang="en-US" sz="1350" dirty="0">
                <a:solidFill>
                  <a:srgbClr val="5C4E3D"/>
                </a:solidFill>
                <a:latin typeface="Libre Baskerville" pitchFamily="34" charset="0"/>
                <a:ea typeface="Libre Baskerville" pitchFamily="34" charset="-122"/>
                <a:cs typeface="Libre Baskerville" pitchFamily="34" charset="-120"/>
              </a:rPr>
              <a:t>Concept: Data Warehousing &amp; Star Schema</a:t>
            </a:r>
            <a:endParaRPr lang="en-US" sz="1350" dirty="0"/>
          </a:p>
        </p:txBody>
      </p:sp>
      <p:sp>
        <p:nvSpPr>
          <p:cNvPr id="10" name="Text 7"/>
          <p:cNvSpPr/>
          <p:nvPr/>
        </p:nvSpPr>
        <p:spPr>
          <a:xfrm>
            <a:off x="702826" y="8716328"/>
            <a:ext cx="13435608" cy="449818"/>
          </a:xfrm>
          <a:prstGeom prst="rect">
            <a:avLst/>
          </a:prstGeom>
          <a:noFill/>
          <a:ln/>
        </p:spPr>
        <p:txBody>
          <a:bodyPr wrap="square" lIns="0" tIns="0" rIns="0" bIns="0" rtlCol="0" anchor="t"/>
          <a:lstStyle/>
          <a:p>
            <a:pPr marL="0" indent="0" algn="l">
              <a:lnSpc>
                <a:spcPts val="1750"/>
              </a:lnSpc>
              <a:buNone/>
            </a:pPr>
            <a:r>
              <a:rPr lang="en-US" sz="1100" dirty="0">
                <a:solidFill>
                  <a:srgbClr val="454240"/>
                </a:solidFill>
                <a:latin typeface="DM Sans" pitchFamily="34" charset="0"/>
                <a:ea typeface="DM Sans" pitchFamily="34" charset="-122"/>
                <a:cs typeface="DM Sans" pitchFamily="34" charset="-120"/>
              </a:rPr>
              <a:t>A </a:t>
            </a:r>
            <a:r>
              <a:rPr lang="en-US" sz="1100" b="1" dirty="0">
                <a:solidFill>
                  <a:srgbClr val="454240"/>
                </a:solidFill>
                <a:latin typeface="DM Sans" pitchFamily="34" charset="0"/>
                <a:ea typeface="DM Sans" pitchFamily="34" charset="-122"/>
                <a:cs typeface="DM Sans" pitchFamily="34" charset="-120"/>
              </a:rPr>
              <a:t>Data Warehouse (DWH)</a:t>
            </a:r>
            <a:r>
              <a:rPr lang="en-US" sz="1100" dirty="0">
                <a:solidFill>
                  <a:srgbClr val="454240"/>
                </a:solidFill>
                <a:latin typeface="DM Sans" pitchFamily="34" charset="0"/>
                <a:ea typeface="DM Sans" pitchFamily="34" charset="-122"/>
                <a:cs typeface="DM Sans" pitchFamily="34" charset="-120"/>
              </a:rPr>
              <a:t> is a central repository of integrated data from one or more disparate sources, used for reporting and data analysis. A </a:t>
            </a:r>
            <a:r>
              <a:rPr lang="en-US" sz="1100" b="1" dirty="0">
                <a:solidFill>
                  <a:srgbClr val="454240"/>
                </a:solidFill>
                <a:latin typeface="DM Sans" pitchFamily="34" charset="0"/>
                <a:ea typeface="DM Sans" pitchFamily="34" charset="-122"/>
                <a:cs typeface="DM Sans" pitchFamily="34" charset="-120"/>
              </a:rPr>
              <a:t>Star Schema</a:t>
            </a:r>
            <a:r>
              <a:rPr lang="en-US" sz="1100" dirty="0">
                <a:solidFill>
                  <a:srgbClr val="454240"/>
                </a:solidFill>
                <a:latin typeface="DM Sans" pitchFamily="34" charset="0"/>
                <a:ea typeface="DM Sans" pitchFamily="34" charset="-122"/>
                <a:cs typeface="DM Sans" pitchFamily="34" charset="-120"/>
              </a:rPr>
              <a:t> is a specific type of DWH schema with a central fact table connected to multiple dimension tables. It optimizes query performance for analytical workloads.</a:t>
            </a:r>
            <a:endParaRPr lang="en-US" sz="1100" dirty="0"/>
          </a:p>
        </p:txBody>
      </p:sp>
      <p:sp>
        <p:nvSpPr>
          <p:cNvPr id="11" name="Shape 8"/>
          <p:cNvSpPr/>
          <p:nvPr/>
        </p:nvSpPr>
        <p:spPr>
          <a:xfrm>
            <a:off x="491966" y="8074938"/>
            <a:ext cx="15240" cy="1249323"/>
          </a:xfrm>
          <a:prstGeom prst="rect">
            <a:avLst/>
          </a:prstGeom>
          <a:solidFill>
            <a:srgbClr val="B88E23"/>
          </a:solidFill>
          <a:ln/>
        </p:spPr>
        <p:txBody>
          <a:bodyPr/>
          <a:lstStyle/>
          <a:p>
            <a:endParaRPr lang="en-GB"/>
          </a:p>
        </p:txBody>
      </p:sp>
      <p:pic>
        <p:nvPicPr>
          <p:cNvPr id="6" name="Picture 5" descr="A screenshot of a computer&#10;&#10;AI-generated content may be incorrect.">
            <a:extLst>
              <a:ext uri="{FF2B5EF4-FFF2-40B4-BE49-F238E27FC236}">
                <a16:creationId xmlns:a16="http://schemas.microsoft.com/office/drawing/2014/main" id="{8E9AC016-B811-1F36-6912-6997435E48F1}"/>
              </a:ext>
            </a:extLst>
          </p:cNvPr>
          <p:cNvPicPr>
            <a:picLocks noChangeAspect="1"/>
          </p:cNvPicPr>
          <p:nvPr/>
        </p:nvPicPr>
        <p:blipFill>
          <a:blip r:embed="rId3"/>
          <a:srcRect l="18371" t="7635" r="2925" b="4028"/>
          <a:stretch>
            <a:fillRect/>
          </a:stretch>
        </p:blipFill>
        <p:spPr>
          <a:xfrm>
            <a:off x="6381620" y="3158835"/>
            <a:ext cx="7756814" cy="4436919"/>
          </a:xfrm>
          <a:prstGeom prst="rect">
            <a:avLst/>
          </a:prstGeom>
        </p:spPr>
      </p:pic>
      <p:sp>
        <p:nvSpPr>
          <p:cNvPr id="12" name="TextBox 11">
            <a:extLst>
              <a:ext uri="{FF2B5EF4-FFF2-40B4-BE49-F238E27FC236}">
                <a16:creationId xmlns:a16="http://schemas.microsoft.com/office/drawing/2014/main" id="{F07389CE-74DA-18A8-685C-6C17443897A8}"/>
              </a:ext>
            </a:extLst>
          </p:cNvPr>
          <p:cNvSpPr txBox="1"/>
          <p:nvPr/>
        </p:nvSpPr>
        <p:spPr>
          <a:xfrm>
            <a:off x="491966" y="2369750"/>
            <a:ext cx="7315200" cy="954107"/>
          </a:xfrm>
          <a:prstGeom prst="rect">
            <a:avLst/>
          </a:prstGeom>
          <a:noFill/>
        </p:spPr>
        <p:txBody>
          <a:bodyPr wrap="square">
            <a:spAutoFit/>
          </a:bodyPr>
          <a:lstStyle/>
          <a:p>
            <a:r>
              <a:rPr lang="en-US" sz="2800" dirty="0"/>
              <a:t>Standardizing Categorical Values and Handling Missing Gender Data</a:t>
            </a:r>
          </a:p>
        </p:txBody>
      </p:sp>
      <p:sp>
        <p:nvSpPr>
          <p:cNvPr id="14" name="TextBox 13">
            <a:extLst>
              <a:ext uri="{FF2B5EF4-FFF2-40B4-BE49-F238E27FC236}">
                <a16:creationId xmlns:a16="http://schemas.microsoft.com/office/drawing/2014/main" id="{FF31F803-3CCD-8F8D-B6E3-259FDABAFEE5}"/>
              </a:ext>
            </a:extLst>
          </p:cNvPr>
          <p:cNvSpPr txBox="1"/>
          <p:nvPr/>
        </p:nvSpPr>
        <p:spPr>
          <a:xfrm>
            <a:off x="491966" y="3967378"/>
            <a:ext cx="5597107" cy="1754326"/>
          </a:xfrm>
          <a:prstGeom prst="rect">
            <a:avLst/>
          </a:prstGeom>
          <a:noFill/>
        </p:spPr>
        <p:txBody>
          <a:bodyPr wrap="square">
            <a:spAutoFit/>
          </a:bodyPr>
          <a:lstStyle/>
          <a:p>
            <a:r>
              <a:rPr lang="en-US" dirty="0"/>
              <a:t>This section shows the process of cleaning and unifying inconsistent gender entries in the dataset. Variations such as “Man,” “m,” and different spellings of “Female” were standardized into clear categories. Remaining missing values were then filled with “Unknown” to ensure a clean and reliable dataset for analysis</a:t>
            </a:r>
          </a:p>
        </p:txBody>
      </p:sp>
      <p:sp>
        <p:nvSpPr>
          <p:cNvPr id="16" name="TextBox 15">
            <a:extLst>
              <a:ext uri="{FF2B5EF4-FFF2-40B4-BE49-F238E27FC236}">
                <a16:creationId xmlns:a16="http://schemas.microsoft.com/office/drawing/2014/main" id="{8C1C8A42-252A-DA9A-9280-457838427133}"/>
              </a:ext>
            </a:extLst>
          </p:cNvPr>
          <p:cNvSpPr txBox="1"/>
          <p:nvPr/>
        </p:nvSpPr>
        <p:spPr>
          <a:xfrm>
            <a:off x="702826" y="841007"/>
            <a:ext cx="7315200" cy="646331"/>
          </a:xfrm>
          <a:prstGeom prst="rect">
            <a:avLst/>
          </a:prstGeom>
          <a:noFill/>
        </p:spPr>
        <p:txBody>
          <a:bodyPr wrap="square">
            <a:spAutoFit/>
          </a:bodyPr>
          <a:lstStyle/>
          <a:p>
            <a:r>
              <a:rPr lang="en-US" sz="3600" dirty="0">
                <a:solidFill>
                  <a:srgbClr val="454240"/>
                </a:solidFill>
                <a:effectLst>
                  <a:outerShdw blurRad="38100" dist="38100" dir="2700000" algn="tl">
                    <a:srgbClr val="000000">
                      <a:alpha val="43137"/>
                    </a:srgbClr>
                  </a:outerShdw>
                </a:effectLst>
                <a:latin typeface="Libre Baskerville" pitchFamily="34" charset="0"/>
                <a:ea typeface="Libre Baskerville" pitchFamily="34" charset="-122"/>
                <a:cs typeface="Libre Baskerville" pitchFamily="34" charset="-120"/>
              </a:rPr>
              <a:t>Phase 1: </a:t>
            </a:r>
            <a:r>
              <a:rPr kumimoji="0" lang="en-US" sz="3600" b="0" i="0" u="none" strike="noStrike" kern="1200" cap="none" spc="0" normalizeH="0" baseline="0" noProof="0" dirty="0">
                <a:ln>
                  <a:noFill/>
                </a:ln>
                <a:solidFill>
                  <a:srgbClr val="454240"/>
                </a:solidFill>
                <a:effectLst>
                  <a:outerShdw blurRad="38100" dist="38100" dir="2700000" algn="tl">
                    <a:srgbClr val="000000">
                      <a:alpha val="43137"/>
                    </a:srgbClr>
                  </a:outerShdw>
                </a:effectLst>
                <a:uLnTx/>
                <a:uFillTx/>
                <a:latin typeface="Libre Baskerville" pitchFamily="34" charset="0"/>
                <a:ea typeface="Libre Baskerville" pitchFamily="34" charset="-122"/>
                <a:cs typeface="Libre Baskerville" pitchFamily="34" charset="-120"/>
              </a:rPr>
              <a:t>Data Preparation</a:t>
            </a:r>
            <a:endParaRPr lang="en-US" sz="3200" dirty="0">
              <a:effectLst>
                <a:outerShdw blurRad="38100" dist="38100" dir="2700000" algn="tl">
                  <a:srgbClr val="000000">
                    <a:alpha val="43137"/>
                  </a:srgbClr>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779A4-B55A-7C28-5F99-78DBB2B15056}"/>
            </a:ext>
          </a:extLst>
        </p:cNvPr>
        <p:cNvGrpSpPr/>
        <p:nvPr/>
      </p:nvGrpSpPr>
      <p:grpSpPr>
        <a:xfrm>
          <a:off x="0" y="0"/>
          <a:ext cx="0" cy="0"/>
          <a:chOff x="0" y="0"/>
          <a:chExt cx="0" cy="0"/>
        </a:xfrm>
      </p:grpSpPr>
      <p:sp>
        <p:nvSpPr>
          <p:cNvPr id="9" name="Text 6">
            <a:extLst>
              <a:ext uri="{FF2B5EF4-FFF2-40B4-BE49-F238E27FC236}">
                <a16:creationId xmlns:a16="http://schemas.microsoft.com/office/drawing/2014/main" id="{AACDDF7A-6779-E0A0-F336-754414843A60}"/>
              </a:ext>
            </a:extLst>
          </p:cNvPr>
          <p:cNvSpPr/>
          <p:nvPr/>
        </p:nvSpPr>
        <p:spPr>
          <a:xfrm>
            <a:off x="702826" y="8285797"/>
            <a:ext cx="3877389" cy="219670"/>
          </a:xfrm>
          <a:prstGeom prst="rect">
            <a:avLst/>
          </a:prstGeom>
          <a:noFill/>
          <a:ln/>
        </p:spPr>
        <p:txBody>
          <a:bodyPr wrap="none" lIns="0" tIns="0" rIns="0" bIns="0" rtlCol="0" anchor="t"/>
          <a:lstStyle/>
          <a:p>
            <a:pPr marL="0" indent="0" algn="l">
              <a:lnSpc>
                <a:spcPts val="1700"/>
              </a:lnSpc>
              <a:buNone/>
            </a:pPr>
            <a:r>
              <a:rPr lang="en-US" sz="1350" dirty="0">
                <a:solidFill>
                  <a:srgbClr val="5C4E3D"/>
                </a:solidFill>
                <a:latin typeface="Libre Baskerville" pitchFamily="34" charset="0"/>
                <a:ea typeface="Libre Baskerville" pitchFamily="34" charset="-122"/>
                <a:cs typeface="Libre Baskerville" pitchFamily="34" charset="-120"/>
              </a:rPr>
              <a:t>Concept: Data Warehousing &amp; Star Schema</a:t>
            </a:r>
            <a:endParaRPr lang="en-US" sz="1350" dirty="0"/>
          </a:p>
        </p:txBody>
      </p:sp>
      <p:sp>
        <p:nvSpPr>
          <p:cNvPr id="10" name="Text 7">
            <a:extLst>
              <a:ext uri="{FF2B5EF4-FFF2-40B4-BE49-F238E27FC236}">
                <a16:creationId xmlns:a16="http://schemas.microsoft.com/office/drawing/2014/main" id="{BC6FA52C-B4D3-FAD8-C529-ED8A6D425817}"/>
              </a:ext>
            </a:extLst>
          </p:cNvPr>
          <p:cNvSpPr/>
          <p:nvPr/>
        </p:nvSpPr>
        <p:spPr>
          <a:xfrm>
            <a:off x="702826" y="8716328"/>
            <a:ext cx="13435608" cy="449818"/>
          </a:xfrm>
          <a:prstGeom prst="rect">
            <a:avLst/>
          </a:prstGeom>
          <a:noFill/>
          <a:ln/>
        </p:spPr>
        <p:txBody>
          <a:bodyPr wrap="square" lIns="0" tIns="0" rIns="0" bIns="0" rtlCol="0" anchor="t"/>
          <a:lstStyle/>
          <a:p>
            <a:pPr marL="0" indent="0" algn="l">
              <a:lnSpc>
                <a:spcPts val="1750"/>
              </a:lnSpc>
              <a:buNone/>
            </a:pPr>
            <a:r>
              <a:rPr lang="en-US" sz="1100" dirty="0">
                <a:solidFill>
                  <a:srgbClr val="454240"/>
                </a:solidFill>
                <a:latin typeface="DM Sans" pitchFamily="34" charset="0"/>
                <a:ea typeface="DM Sans" pitchFamily="34" charset="-122"/>
                <a:cs typeface="DM Sans" pitchFamily="34" charset="-120"/>
              </a:rPr>
              <a:t>A </a:t>
            </a:r>
            <a:r>
              <a:rPr lang="en-US" sz="1100" b="1" dirty="0">
                <a:solidFill>
                  <a:srgbClr val="454240"/>
                </a:solidFill>
                <a:latin typeface="DM Sans" pitchFamily="34" charset="0"/>
                <a:ea typeface="DM Sans" pitchFamily="34" charset="-122"/>
                <a:cs typeface="DM Sans" pitchFamily="34" charset="-120"/>
              </a:rPr>
              <a:t>Data Warehouse (DWH)</a:t>
            </a:r>
            <a:r>
              <a:rPr lang="en-US" sz="1100" dirty="0">
                <a:solidFill>
                  <a:srgbClr val="454240"/>
                </a:solidFill>
                <a:latin typeface="DM Sans" pitchFamily="34" charset="0"/>
                <a:ea typeface="DM Sans" pitchFamily="34" charset="-122"/>
                <a:cs typeface="DM Sans" pitchFamily="34" charset="-120"/>
              </a:rPr>
              <a:t> is a central repository of integrated data from one or more disparate sources, used for reporting and data analysis. A </a:t>
            </a:r>
            <a:r>
              <a:rPr lang="en-US" sz="1100" b="1" dirty="0">
                <a:solidFill>
                  <a:srgbClr val="454240"/>
                </a:solidFill>
                <a:latin typeface="DM Sans" pitchFamily="34" charset="0"/>
                <a:ea typeface="DM Sans" pitchFamily="34" charset="-122"/>
                <a:cs typeface="DM Sans" pitchFamily="34" charset="-120"/>
              </a:rPr>
              <a:t>Star Schema</a:t>
            </a:r>
            <a:r>
              <a:rPr lang="en-US" sz="1100" dirty="0">
                <a:solidFill>
                  <a:srgbClr val="454240"/>
                </a:solidFill>
                <a:latin typeface="DM Sans" pitchFamily="34" charset="0"/>
                <a:ea typeface="DM Sans" pitchFamily="34" charset="-122"/>
                <a:cs typeface="DM Sans" pitchFamily="34" charset="-120"/>
              </a:rPr>
              <a:t> is a specific type of DWH schema with a central fact table connected to multiple dimension tables. It optimizes query performance for analytical workloads.</a:t>
            </a:r>
            <a:endParaRPr lang="en-US" sz="1100" dirty="0"/>
          </a:p>
        </p:txBody>
      </p:sp>
      <p:sp>
        <p:nvSpPr>
          <p:cNvPr id="11" name="Shape 8">
            <a:extLst>
              <a:ext uri="{FF2B5EF4-FFF2-40B4-BE49-F238E27FC236}">
                <a16:creationId xmlns:a16="http://schemas.microsoft.com/office/drawing/2014/main" id="{D6D62BF0-DF6E-8E9D-E68D-6F9FC08AE1A3}"/>
              </a:ext>
            </a:extLst>
          </p:cNvPr>
          <p:cNvSpPr/>
          <p:nvPr/>
        </p:nvSpPr>
        <p:spPr>
          <a:xfrm>
            <a:off x="491966" y="8074938"/>
            <a:ext cx="15240" cy="1249323"/>
          </a:xfrm>
          <a:prstGeom prst="rect">
            <a:avLst/>
          </a:prstGeom>
          <a:solidFill>
            <a:srgbClr val="B88E23"/>
          </a:solidFill>
          <a:ln/>
        </p:spPr>
        <p:txBody>
          <a:bodyPr/>
          <a:lstStyle/>
          <a:p>
            <a:endParaRPr lang="en-GB"/>
          </a:p>
        </p:txBody>
      </p:sp>
      <p:pic>
        <p:nvPicPr>
          <p:cNvPr id="7" name="Picture 6" descr="A screenshot of a computer&#10;&#10;AI-generated content may be incorrect.">
            <a:extLst>
              <a:ext uri="{FF2B5EF4-FFF2-40B4-BE49-F238E27FC236}">
                <a16:creationId xmlns:a16="http://schemas.microsoft.com/office/drawing/2014/main" id="{0AD446B0-4438-0534-FABA-F58A1B9142A9}"/>
              </a:ext>
            </a:extLst>
          </p:cNvPr>
          <p:cNvPicPr>
            <a:picLocks noChangeAspect="1"/>
          </p:cNvPicPr>
          <p:nvPr/>
        </p:nvPicPr>
        <p:blipFill>
          <a:blip r:embed="rId3"/>
          <a:srcRect l="18578" t="5117" r="5497" b="6201"/>
          <a:stretch>
            <a:fillRect/>
          </a:stretch>
        </p:blipFill>
        <p:spPr>
          <a:xfrm>
            <a:off x="6483927" y="1139833"/>
            <a:ext cx="7980218" cy="5853249"/>
          </a:xfrm>
          <a:prstGeom prst="rect">
            <a:avLst/>
          </a:prstGeom>
        </p:spPr>
      </p:pic>
      <p:sp>
        <p:nvSpPr>
          <p:cNvPr id="12" name="TextBox 11">
            <a:extLst>
              <a:ext uri="{FF2B5EF4-FFF2-40B4-BE49-F238E27FC236}">
                <a16:creationId xmlns:a16="http://schemas.microsoft.com/office/drawing/2014/main" id="{FAF46D39-7FE2-49BC-0069-A879D47F46AD}"/>
              </a:ext>
            </a:extLst>
          </p:cNvPr>
          <p:cNvSpPr txBox="1"/>
          <p:nvPr/>
        </p:nvSpPr>
        <p:spPr>
          <a:xfrm>
            <a:off x="507206" y="936537"/>
            <a:ext cx="7315200" cy="1077218"/>
          </a:xfrm>
          <a:prstGeom prst="rect">
            <a:avLst/>
          </a:prstGeom>
          <a:noFill/>
        </p:spPr>
        <p:txBody>
          <a:bodyPr wrap="square">
            <a:spAutoFit/>
          </a:bodyPr>
          <a:lstStyle/>
          <a:p>
            <a:pPr algn="l" rtl="1"/>
            <a:r>
              <a:rPr lang="en-US" sz="3200" dirty="0"/>
              <a:t>Missing Values Check and Data Preprocessing</a:t>
            </a:r>
          </a:p>
        </p:txBody>
      </p:sp>
      <p:sp>
        <p:nvSpPr>
          <p:cNvPr id="14" name="TextBox 13">
            <a:extLst>
              <a:ext uri="{FF2B5EF4-FFF2-40B4-BE49-F238E27FC236}">
                <a16:creationId xmlns:a16="http://schemas.microsoft.com/office/drawing/2014/main" id="{D5874741-5ED3-D354-4E09-1A0AA8F32A04}"/>
              </a:ext>
            </a:extLst>
          </p:cNvPr>
          <p:cNvSpPr txBox="1"/>
          <p:nvPr/>
        </p:nvSpPr>
        <p:spPr>
          <a:xfrm>
            <a:off x="322119" y="2635296"/>
            <a:ext cx="5755178" cy="2862322"/>
          </a:xfrm>
          <a:prstGeom prst="rect">
            <a:avLst/>
          </a:prstGeom>
          <a:noFill/>
        </p:spPr>
        <p:txBody>
          <a:bodyPr wrap="square">
            <a:spAutoFit/>
          </a:bodyPr>
          <a:lstStyle/>
          <a:p>
            <a:r>
              <a:rPr lang="en-US" dirty="0"/>
              <a:t>The image shows a key step in the data preprocessing phase of the Customer Churn analysis project. In this stage, negative values in numerical columns like </a:t>
            </a:r>
            <a:r>
              <a:rPr lang="en-US" i="1" dirty="0"/>
              <a:t>tenure</a:t>
            </a:r>
            <a:r>
              <a:rPr lang="en-US" dirty="0"/>
              <a:t> and </a:t>
            </a:r>
            <a:r>
              <a:rPr lang="en-US" i="1" dirty="0" err="1"/>
              <a:t>MonthlyCharges</a:t>
            </a:r>
            <a:r>
              <a:rPr lang="en-US" dirty="0"/>
              <a:t> are corrected, and the </a:t>
            </a:r>
            <a:r>
              <a:rPr lang="en-US" dirty="0" err="1"/>
              <a:t>PySpark</a:t>
            </a:r>
            <a:r>
              <a:rPr lang="en-US" dirty="0"/>
              <a:t> </a:t>
            </a:r>
            <a:r>
              <a:rPr lang="en-US" b="1" dirty="0"/>
              <a:t>Imputer</a:t>
            </a:r>
            <a:r>
              <a:rPr lang="en-US" dirty="0"/>
              <a:t> is used to fill missing values using the median strategy. A new feature, </a:t>
            </a:r>
            <a:r>
              <a:rPr lang="en-US" b="1" dirty="0" err="1"/>
              <a:t>TotalCharges</a:t>
            </a:r>
            <a:r>
              <a:rPr lang="en-US" dirty="0"/>
              <a:t>, is then created by multiplying tenure by the monthly charges. The code also includes displaying the count of missing values for each column to ensure the dataset is clean and ready for further analysis or model building.</a:t>
            </a:r>
          </a:p>
        </p:txBody>
      </p:sp>
    </p:spTree>
    <p:extLst>
      <p:ext uri="{BB962C8B-B14F-4D97-AF65-F5344CB8AC3E}">
        <p14:creationId xmlns:p14="http://schemas.microsoft.com/office/powerpoint/2010/main" val="3056213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82917" y="379452"/>
            <a:ext cx="8229957" cy="344924"/>
          </a:xfrm>
          <a:prstGeom prst="rect">
            <a:avLst/>
          </a:prstGeom>
          <a:noFill/>
          <a:ln/>
        </p:spPr>
        <p:txBody>
          <a:bodyPr wrap="none" lIns="0" tIns="0" rIns="0" bIns="0" rtlCol="0" anchor="t"/>
          <a:lstStyle/>
          <a:p>
            <a:pPr marL="0" indent="0" algn="l">
              <a:lnSpc>
                <a:spcPts val="2700"/>
              </a:lnSpc>
              <a:buNone/>
            </a:pPr>
            <a:r>
              <a:rPr lang="en-US" sz="2800" dirty="0">
                <a:solidFill>
                  <a:srgbClr val="5C4E3D"/>
                </a:solidFill>
                <a:effectLst>
                  <a:outerShdw blurRad="38100" dist="38100" dir="2700000" algn="tl">
                    <a:srgbClr val="000000">
                      <a:alpha val="43137"/>
                    </a:srgbClr>
                  </a:outerShdw>
                </a:effectLst>
                <a:latin typeface="Libre Baskerville" pitchFamily="34" charset="0"/>
                <a:ea typeface="Libre Baskerville" pitchFamily="34" charset="-122"/>
                <a:cs typeface="Libre Baskerville" pitchFamily="34" charset="-120"/>
              </a:rPr>
              <a:t>Phase 2: Pipeline Orchestration &amp; Scheduling with Airflow</a:t>
            </a:r>
            <a:endParaRPr lang="en-US" sz="2800" dirty="0">
              <a:effectLst>
                <a:outerShdw blurRad="38100" dist="38100" dir="2700000" algn="tl">
                  <a:srgbClr val="000000">
                    <a:alpha val="43137"/>
                  </a:srgbClr>
                </a:outerShdw>
              </a:effectLst>
            </a:endParaRPr>
          </a:p>
        </p:txBody>
      </p:sp>
      <p:sp>
        <p:nvSpPr>
          <p:cNvPr id="4" name="Text 2"/>
          <p:cNvSpPr/>
          <p:nvPr/>
        </p:nvSpPr>
        <p:spPr>
          <a:xfrm>
            <a:off x="651272" y="2109355"/>
            <a:ext cx="4990992" cy="1039090"/>
          </a:xfrm>
          <a:prstGeom prst="rect">
            <a:avLst/>
          </a:prstGeom>
          <a:noFill/>
          <a:ln/>
        </p:spPr>
        <p:txBody>
          <a:bodyPr wrap="square" lIns="0" tIns="0" rIns="0" bIns="0" rtlCol="0" anchor="t"/>
          <a:lstStyle/>
          <a:p>
            <a:pPr>
              <a:lnSpc>
                <a:spcPts val="1700"/>
              </a:lnSpc>
            </a:pPr>
            <a:endParaRPr lang="en-US" sz="2400" dirty="0"/>
          </a:p>
        </p:txBody>
      </p:sp>
      <p:sp>
        <p:nvSpPr>
          <p:cNvPr id="9" name="Text 6"/>
          <p:cNvSpPr/>
          <p:nvPr/>
        </p:nvSpPr>
        <p:spPr>
          <a:xfrm>
            <a:off x="689848" y="8267938"/>
            <a:ext cx="2705933" cy="215622"/>
          </a:xfrm>
          <a:prstGeom prst="rect">
            <a:avLst/>
          </a:prstGeom>
          <a:noFill/>
          <a:ln/>
        </p:spPr>
        <p:txBody>
          <a:bodyPr wrap="none" lIns="0" tIns="0" rIns="0" bIns="0" rtlCol="0" anchor="t"/>
          <a:lstStyle/>
          <a:p>
            <a:pPr marL="0" indent="0" algn="l">
              <a:lnSpc>
                <a:spcPts val="1650"/>
              </a:lnSpc>
              <a:buNone/>
            </a:pPr>
            <a:r>
              <a:rPr lang="en-US" sz="1350" dirty="0">
                <a:solidFill>
                  <a:srgbClr val="5C4E3D"/>
                </a:solidFill>
                <a:latin typeface="Libre Baskerville" pitchFamily="34" charset="0"/>
                <a:ea typeface="Libre Baskerville" pitchFamily="34" charset="-122"/>
                <a:cs typeface="Libre Baskerville" pitchFamily="34" charset="-120"/>
              </a:rPr>
              <a:t>Concept: ETL &amp; Orchestration</a:t>
            </a:r>
            <a:endParaRPr lang="en-US" sz="1350" dirty="0"/>
          </a:p>
        </p:txBody>
      </p:sp>
      <p:sp>
        <p:nvSpPr>
          <p:cNvPr id="10" name="Text 7"/>
          <p:cNvSpPr/>
          <p:nvPr/>
        </p:nvSpPr>
        <p:spPr>
          <a:xfrm>
            <a:off x="689848" y="8690491"/>
            <a:ext cx="13457634" cy="441484"/>
          </a:xfrm>
          <a:prstGeom prst="rect">
            <a:avLst/>
          </a:prstGeom>
          <a:noFill/>
          <a:ln/>
        </p:spPr>
        <p:txBody>
          <a:bodyPr wrap="square" lIns="0" tIns="0" rIns="0" bIns="0" rtlCol="0" anchor="t"/>
          <a:lstStyle/>
          <a:p>
            <a:pPr marL="0" indent="0" algn="l">
              <a:lnSpc>
                <a:spcPts val="1700"/>
              </a:lnSpc>
              <a:buNone/>
            </a:pPr>
            <a:r>
              <a:rPr lang="en-US" sz="1050" b="1" dirty="0">
                <a:solidFill>
                  <a:srgbClr val="454240"/>
                </a:solidFill>
                <a:latin typeface="DM Sans" pitchFamily="34" charset="0"/>
                <a:ea typeface="DM Sans" pitchFamily="34" charset="-122"/>
                <a:cs typeface="DM Sans" pitchFamily="34" charset="-120"/>
              </a:rPr>
              <a:t>ETL (Extract, Transform, Load)</a:t>
            </a:r>
            <a:r>
              <a:rPr lang="en-US" sz="1050" dirty="0">
                <a:solidFill>
                  <a:srgbClr val="454240"/>
                </a:solidFill>
                <a:latin typeface="DM Sans" pitchFamily="34" charset="0"/>
                <a:ea typeface="DM Sans" pitchFamily="34" charset="-122"/>
                <a:cs typeface="DM Sans" pitchFamily="34" charset="-120"/>
              </a:rPr>
              <a:t> is a process that extracts data from source systems, transforms it into a clean format, and loads it into a data warehouse. </a:t>
            </a:r>
            <a:r>
              <a:rPr lang="en-US" sz="1050" b="1" dirty="0">
                <a:solidFill>
                  <a:srgbClr val="454240"/>
                </a:solidFill>
                <a:latin typeface="DM Sans" pitchFamily="34" charset="0"/>
                <a:ea typeface="DM Sans" pitchFamily="34" charset="-122"/>
                <a:cs typeface="DM Sans" pitchFamily="34" charset="-120"/>
              </a:rPr>
              <a:t>Orchestration</a:t>
            </a:r>
            <a:r>
              <a:rPr lang="en-US" sz="1050" dirty="0">
                <a:solidFill>
                  <a:srgbClr val="454240"/>
                </a:solidFill>
                <a:latin typeface="DM Sans" pitchFamily="34" charset="0"/>
                <a:ea typeface="DM Sans" pitchFamily="34" charset="-122"/>
                <a:cs typeface="DM Sans" pitchFamily="34" charset="-120"/>
              </a:rPr>
              <a:t> refers to the automated configuration, coordination, and management of computer systems, applications, and services. Airflow excels at this, defining dependencies and handling failures.</a:t>
            </a:r>
            <a:endParaRPr lang="en-US" sz="1050" dirty="0"/>
          </a:p>
        </p:txBody>
      </p:sp>
      <p:sp>
        <p:nvSpPr>
          <p:cNvPr id="11" name="Shape 8"/>
          <p:cNvSpPr/>
          <p:nvPr/>
        </p:nvSpPr>
        <p:spPr>
          <a:xfrm>
            <a:off x="482917" y="8061008"/>
            <a:ext cx="15240" cy="1226225"/>
          </a:xfrm>
          <a:prstGeom prst="rect">
            <a:avLst/>
          </a:prstGeom>
          <a:solidFill>
            <a:srgbClr val="B88E23"/>
          </a:solidFill>
          <a:ln/>
        </p:spPr>
        <p:txBody>
          <a:bodyPr/>
          <a:lstStyle/>
          <a:p>
            <a:endParaRPr lang="en-GB"/>
          </a:p>
        </p:txBody>
      </p:sp>
      <p:pic>
        <p:nvPicPr>
          <p:cNvPr id="6" name="Picture 5" descr="A computer screen shot of a computer&#10;&#10;AI-generated content may be incorrect.">
            <a:extLst>
              <a:ext uri="{FF2B5EF4-FFF2-40B4-BE49-F238E27FC236}">
                <a16:creationId xmlns:a16="http://schemas.microsoft.com/office/drawing/2014/main" id="{831CD227-5F11-B77F-25AA-A05ABF36FD55}"/>
              </a:ext>
            </a:extLst>
          </p:cNvPr>
          <p:cNvPicPr>
            <a:picLocks noChangeAspect="1"/>
          </p:cNvPicPr>
          <p:nvPr/>
        </p:nvPicPr>
        <p:blipFill>
          <a:blip r:embed="rId3"/>
          <a:srcRect l="23833" t="12509" r="17292"/>
          <a:stretch>
            <a:fillRect/>
          </a:stretch>
        </p:blipFill>
        <p:spPr>
          <a:xfrm>
            <a:off x="7315200" y="2109355"/>
            <a:ext cx="7232073" cy="5527962"/>
          </a:xfrm>
          <a:prstGeom prst="rect">
            <a:avLst/>
          </a:prstGeom>
        </p:spPr>
      </p:pic>
      <p:sp>
        <p:nvSpPr>
          <p:cNvPr id="12" name="TextBox 11">
            <a:extLst>
              <a:ext uri="{FF2B5EF4-FFF2-40B4-BE49-F238E27FC236}">
                <a16:creationId xmlns:a16="http://schemas.microsoft.com/office/drawing/2014/main" id="{D23AEC66-6C42-6876-3746-9B8D4F480AB6}"/>
              </a:ext>
            </a:extLst>
          </p:cNvPr>
          <p:cNvSpPr txBox="1"/>
          <p:nvPr/>
        </p:nvSpPr>
        <p:spPr>
          <a:xfrm>
            <a:off x="651272" y="3231805"/>
            <a:ext cx="4803955" cy="2031325"/>
          </a:xfrm>
          <a:prstGeom prst="rect">
            <a:avLst/>
          </a:prstGeom>
          <a:noFill/>
        </p:spPr>
        <p:txBody>
          <a:bodyPr wrap="square">
            <a:spAutoFit/>
          </a:bodyPr>
          <a:lstStyle/>
          <a:p>
            <a:pPr>
              <a:buNone/>
            </a:pPr>
            <a:r>
              <a:rPr lang="en-US" dirty="0"/>
              <a:t>This image shows the initial data view of the </a:t>
            </a:r>
            <a:r>
              <a:rPr lang="en-US" dirty="0" err="1">
                <a:latin typeface="Courier New" panose="02070309020205020404" pitchFamily="49" charset="0"/>
              </a:rPr>
              <a:t>churn_data</a:t>
            </a:r>
            <a:r>
              <a:rPr lang="en-US" dirty="0"/>
              <a:t> table in SQL Server, displaying key customer details like </a:t>
            </a:r>
            <a:r>
              <a:rPr lang="en-US" b="1" dirty="0"/>
              <a:t>gender</a:t>
            </a:r>
            <a:r>
              <a:rPr lang="en-US" dirty="0"/>
              <a:t>, </a:t>
            </a:r>
            <a:r>
              <a:rPr lang="en-US" b="1" dirty="0"/>
              <a:t>tenure</a:t>
            </a:r>
            <a:r>
              <a:rPr lang="en-US" dirty="0"/>
              <a:t>, and various </a:t>
            </a:r>
            <a:r>
              <a:rPr lang="en-US" b="1" dirty="0"/>
              <a:t>service subscriptions</a:t>
            </a:r>
            <a:r>
              <a:rPr lang="en-US" dirty="0"/>
              <a:t>. This foundational inspection is essential for understanding the dataset's structure before proceeding with advanced data analysis for churn prediction.</a:t>
            </a:r>
          </a:p>
        </p:txBody>
      </p:sp>
      <p:sp>
        <p:nvSpPr>
          <p:cNvPr id="14" name="TextBox 13">
            <a:extLst>
              <a:ext uri="{FF2B5EF4-FFF2-40B4-BE49-F238E27FC236}">
                <a16:creationId xmlns:a16="http://schemas.microsoft.com/office/drawing/2014/main" id="{A5C3EC2C-593F-0613-5106-F398C34B9EED}"/>
              </a:ext>
            </a:extLst>
          </p:cNvPr>
          <p:cNvSpPr txBox="1"/>
          <p:nvPr/>
        </p:nvSpPr>
        <p:spPr>
          <a:xfrm>
            <a:off x="498157" y="2582037"/>
            <a:ext cx="5676792" cy="364202"/>
          </a:xfrm>
          <a:prstGeom prst="rect">
            <a:avLst/>
          </a:prstGeom>
          <a:noFill/>
        </p:spPr>
        <p:txBody>
          <a:bodyPr wrap="square">
            <a:spAutoFit/>
          </a:bodyPr>
          <a:lstStyle/>
          <a:p>
            <a:pPr>
              <a:lnSpc>
                <a:spcPts val="1700"/>
              </a:lnSpc>
            </a:pPr>
            <a:r>
              <a:rPr lang="en-US" sz="3200" dirty="0"/>
              <a:t>Exploring Customer Churn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1F9766-B0C6-FF31-BA7D-866608F4E9A1}"/>
              </a:ext>
            </a:extLst>
          </p:cNvPr>
          <p:cNvPicPr>
            <a:picLocks noChangeAspect="1"/>
          </p:cNvPicPr>
          <p:nvPr/>
        </p:nvPicPr>
        <p:blipFill>
          <a:blip r:embed="rId2"/>
          <a:srcRect l="18021" t="3436" r="13192"/>
          <a:stretch>
            <a:fillRect/>
          </a:stretch>
        </p:blipFill>
        <p:spPr>
          <a:xfrm>
            <a:off x="6307282" y="1750000"/>
            <a:ext cx="8055706" cy="5765739"/>
          </a:xfrm>
          <a:prstGeom prst="rect">
            <a:avLst/>
          </a:prstGeom>
        </p:spPr>
      </p:pic>
      <p:sp>
        <p:nvSpPr>
          <p:cNvPr id="5" name="TextBox 4">
            <a:extLst>
              <a:ext uri="{FF2B5EF4-FFF2-40B4-BE49-F238E27FC236}">
                <a16:creationId xmlns:a16="http://schemas.microsoft.com/office/drawing/2014/main" id="{4850AC52-9EF7-D5AC-D233-14F35C371DEB}"/>
              </a:ext>
            </a:extLst>
          </p:cNvPr>
          <p:cNvSpPr txBox="1"/>
          <p:nvPr/>
        </p:nvSpPr>
        <p:spPr>
          <a:xfrm>
            <a:off x="426027" y="549671"/>
            <a:ext cx="9185564" cy="1200329"/>
          </a:xfrm>
          <a:prstGeom prst="rect">
            <a:avLst/>
          </a:prstGeom>
          <a:noFill/>
        </p:spPr>
        <p:txBody>
          <a:bodyPr wrap="square">
            <a:spAutoFit/>
          </a:bodyPr>
          <a:lstStyle/>
          <a:p>
            <a:pPr algn="l">
              <a:buNone/>
            </a:pPr>
            <a:r>
              <a:rPr lang="en-US" b="1" dirty="0"/>
              <a:t> </a:t>
            </a:r>
            <a:r>
              <a:rPr lang="en-US" sz="3600" b="1" dirty="0">
                <a:effectLst>
                  <a:outerShdw blurRad="38100" dist="38100" dir="2700000" algn="tl">
                    <a:srgbClr val="000000">
                      <a:alpha val="43137"/>
                    </a:srgbClr>
                  </a:outerShdw>
                </a:effectLst>
              </a:rPr>
              <a:t>Data Preprocessing for Customer Churn Prediction</a:t>
            </a:r>
            <a:endParaRPr lang="en-US" b="1"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770F1D20-0324-3C49-34E2-19AED10AE356}"/>
              </a:ext>
            </a:extLst>
          </p:cNvPr>
          <p:cNvSpPr txBox="1"/>
          <p:nvPr/>
        </p:nvSpPr>
        <p:spPr>
          <a:xfrm>
            <a:off x="426027" y="2438185"/>
            <a:ext cx="5642264" cy="1631216"/>
          </a:xfrm>
          <a:prstGeom prst="rect">
            <a:avLst/>
          </a:prstGeom>
          <a:noFill/>
        </p:spPr>
        <p:txBody>
          <a:bodyPr wrap="square">
            <a:spAutoFit/>
          </a:bodyPr>
          <a:lstStyle/>
          <a:p>
            <a:pPr>
              <a:buNone/>
            </a:pPr>
            <a:r>
              <a:rPr lang="en-US" sz="2000" dirty="0"/>
              <a:t>This Python script in VS Code demonstrates the initial steps of a machine learning workflow, including </a:t>
            </a:r>
            <a:r>
              <a:rPr lang="en-US" sz="2000" b="1" dirty="0"/>
              <a:t>handling missing data</a:t>
            </a:r>
            <a:r>
              <a:rPr lang="en-US" sz="2000" dirty="0"/>
              <a:t> and </a:t>
            </a:r>
            <a:r>
              <a:rPr lang="en-US" sz="2000" b="1" dirty="0"/>
              <a:t>preprocessing features</a:t>
            </a:r>
            <a:r>
              <a:rPr lang="en-US" sz="2000" dirty="0"/>
              <a:t> before training an </a:t>
            </a:r>
            <a:r>
              <a:rPr lang="en-US" sz="2000" b="1" dirty="0" err="1"/>
              <a:t>XGBoost</a:t>
            </a:r>
            <a:r>
              <a:rPr lang="en-US" sz="2000" b="1" dirty="0"/>
              <a:t> model</a:t>
            </a:r>
            <a:r>
              <a:rPr lang="en-US" sz="2000" dirty="0"/>
              <a:t> for customer churn prediction.</a:t>
            </a:r>
          </a:p>
        </p:txBody>
      </p:sp>
    </p:spTree>
    <p:extLst>
      <p:ext uri="{BB962C8B-B14F-4D97-AF65-F5344CB8AC3E}">
        <p14:creationId xmlns:p14="http://schemas.microsoft.com/office/powerpoint/2010/main" val="331269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716875" y="725567"/>
            <a:ext cx="7710249" cy="1024176"/>
          </a:xfrm>
          <a:prstGeom prst="rect">
            <a:avLst/>
          </a:prstGeom>
          <a:noFill/>
          <a:ln/>
        </p:spPr>
        <p:txBody>
          <a:bodyPr wrap="square" lIns="0" tIns="0" rIns="0" bIns="0" rtlCol="0" anchor="t"/>
          <a:lstStyle/>
          <a:p>
            <a:pPr marL="0" indent="0" algn="l">
              <a:lnSpc>
                <a:spcPts val="4000"/>
              </a:lnSpc>
              <a:buNone/>
            </a:pPr>
            <a:r>
              <a:rPr lang="en-US" sz="3200" dirty="0">
                <a:solidFill>
                  <a:srgbClr val="5C4E3D"/>
                </a:solidFill>
                <a:latin typeface="Libre Baskerville" pitchFamily="34" charset="0"/>
                <a:ea typeface="Libre Baskerville" pitchFamily="34" charset="-122"/>
                <a:cs typeface="Libre Baskerville" pitchFamily="34" charset="-120"/>
              </a:rPr>
              <a:t>Airflow DAG: Automating Our Churn Pipeline</a:t>
            </a:r>
            <a:endParaRPr lang="en-US" sz="3200" dirty="0"/>
          </a:p>
        </p:txBody>
      </p:sp>
      <p:sp>
        <p:nvSpPr>
          <p:cNvPr id="4" name="Text 1"/>
          <p:cNvSpPr/>
          <p:nvPr/>
        </p:nvSpPr>
        <p:spPr>
          <a:xfrm>
            <a:off x="716875" y="2056924"/>
            <a:ext cx="7710249" cy="982980"/>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The `Airflow` folder contains our DAG definitions, outlining the sequence and dependencies of tasks in our data pipeline. This code defines how data is processed, models are trained, and results are prepared for visualization.</a:t>
            </a:r>
            <a:endParaRPr lang="en-US" sz="1600" dirty="0"/>
          </a:p>
        </p:txBody>
      </p:sp>
      <p:sp>
        <p:nvSpPr>
          <p:cNvPr id="5" name="Shape 2"/>
          <p:cNvSpPr/>
          <p:nvPr/>
        </p:nvSpPr>
        <p:spPr>
          <a:xfrm>
            <a:off x="716875" y="3270290"/>
            <a:ext cx="7710249" cy="2178248"/>
          </a:xfrm>
          <a:prstGeom prst="roundRect">
            <a:avLst>
              <a:gd name="adj" fmla="val 3949"/>
            </a:avLst>
          </a:prstGeom>
          <a:solidFill>
            <a:srgbClr val="F7EDD4"/>
          </a:solidFill>
          <a:ln w="7620">
            <a:solidFill>
              <a:srgbClr val="DDD3BA"/>
            </a:solidFill>
            <a:prstDash val="solid"/>
          </a:ln>
        </p:spPr>
        <p:txBody>
          <a:bodyPr/>
          <a:lstStyle/>
          <a:p>
            <a:endParaRPr lang="en-GB"/>
          </a:p>
        </p:txBody>
      </p:sp>
      <p:sp>
        <p:nvSpPr>
          <p:cNvPr id="6" name="Text 3"/>
          <p:cNvSpPr/>
          <p:nvPr/>
        </p:nvSpPr>
        <p:spPr>
          <a:xfrm>
            <a:off x="929283" y="3482697"/>
            <a:ext cx="2914412" cy="319921"/>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Code Implementation</a:t>
            </a:r>
            <a:endParaRPr lang="en-US" sz="2000" dirty="0"/>
          </a:p>
        </p:txBody>
      </p:sp>
      <p:sp>
        <p:nvSpPr>
          <p:cNvPr id="7" name="Text 4"/>
          <p:cNvSpPr/>
          <p:nvPr/>
        </p:nvSpPr>
        <p:spPr>
          <a:xfrm>
            <a:off x="929283" y="3925491"/>
            <a:ext cx="7285434" cy="1310640"/>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The Python scripts within the `Airflow` folder represent individual tasks (e.g., data cleaning, feature engineering, model training) that are orchestrated by Airflow. Each task is defined with clear inputs and outputs, ensuring modularity and reusability.</a:t>
            </a:r>
            <a:endParaRPr lang="en-US" sz="1600" dirty="0"/>
          </a:p>
        </p:txBody>
      </p:sp>
      <p:sp>
        <p:nvSpPr>
          <p:cNvPr id="8" name="Shape 5"/>
          <p:cNvSpPr/>
          <p:nvPr/>
        </p:nvSpPr>
        <p:spPr>
          <a:xfrm>
            <a:off x="716875" y="5653326"/>
            <a:ext cx="7710249" cy="1850588"/>
          </a:xfrm>
          <a:prstGeom prst="roundRect">
            <a:avLst>
              <a:gd name="adj" fmla="val 4649"/>
            </a:avLst>
          </a:prstGeom>
          <a:solidFill>
            <a:srgbClr val="F7EDD4"/>
          </a:solidFill>
          <a:ln w="7620">
            <a:solidFill>
              <a:srgbClr val="DDD3BA"/>
            </a:solidFill>
            <a:prstDash val="solid"/>
          </a:ln>
        </p:spPr>
        <p:txBody>
          <a:bodyPr/>
          <a:lstStyle/>
          <a:p>
            <a:endParaRPr lang="en-GB"/>
          </a:p>
        </p:txBody>
      </p:sp>
      <p:sp>
        <p:nvSpPr>
          <p:cNvPr id="9" name="Text 6"/>
          <p:cNvSpPr/>
          <p:nvPr/>
        </p:nvSpPr>
        <p:spPr>
          <a:xfrm>
            <a:off x="929283" y="5865733"/>
            <a:ext cx="2560320" cy="319921"/>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Benefits of Airflow</a:t>
            </a:r>
            <a:endParaRPr lang="en-US" sz="2000" dirty="0"/>
          </a:p>
        </p:txBody>
      </p:sp>
      <p:sp>
        <p:nvSpPr>
          <p:cNvPr id="10" name="Text 7"/>
          <p:cNvSpPr/>
          <p:nvPr/>
        </p:nvSpPr>
        <p:spPr>
          <a:xfrm>
            <a:off x="929283" y="6308527"/>
            <a:ext cx="7285434" cy="982980"/>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Airflow provides robust scheduling, monitoring, and error handling capabilities. It ensures that our churn prediction model is always fed with fresh data and that insights are generated consistently.</a:t>
            </a:r>
            <a:endParaRPr lang="en-US" sz="1600" dirty="0"/>
          </a:p>
        </p:txBody>
      </p:sp>
      <p:pic>
        <p:nvPicPr>
          <p:cNvPr id="14" name="Picture 13" descr="A diagram of a process&#10;&#10;AI-generated content may be incorrect.">
            <a:extLst>
              <a:ext uri="{FF2B5EF4-FFF2-40B4-BE49-F238E27FC236}">
                <a16:creationId xmlns:a16="http://schemas.microsoft.com/office/drawing/2014/main" id="{707C0107-F04C-4310-6815-B687D839560F}"/>
              </a:ext>
            </a:extLst>
          </p:cNvPr>
          <p:cNvPicPr>
            <a:picLocks noChangeAspect="1"/>
          </p:cNvPicPr>
          <p:nvPr/>
        </p:nvPicPr>
        <p:blipFill>
          <a:blip r:embed="rId3"/>
          <a:stretch>
            <a:fillRect/>
          </a:stretch>
        </p:blipFill>
        <p:spPr>
          <a:xfrm>
            <a:off x="9511051" y="0"/>
            <a:ext cx="5119349" cy="76305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 program&#10;&#10;AI-generated content may be incorrect.">
            <a:extLst>
              <a:ext uri="{FF2B5EF4-FFF2-40B4-BE49-F238E27FC236}">
                <a16:creationId xmlns:a16="http://schemas.microsoft.com/office/drawing/2014/main" id="{C4FCA3F1-B8CA-BB36-9FA9-4DAEFD772470}"/>
              </a:ext>
            </a:extLst>
          </p:cNvPr>
          <p:cNvPicPr>
            <a:picLocks noChangeAspect="1"/>
          </p:cNvPicPr>
          <p:nvPr/>
        </p:nvPicPr>
        <p:blipFill>
          <a:blip r:embed="rId2"/>
          <a:srcRect l="16040" t="4045" r="29112" b="20469"/>
          <a:stretch>
            <a:fillRect/>
          </a:stretch>
        </p:blipFill>
        <p:spPr>
          <a:xfrm>
            <a:off x="0" y="0"/>
            <a:ext cx="6670429" cy="7616803"/>
          </a:xfrm>
          <a:prstGeom prst="rect">
            <a:avLst/>
          </a:prstGeom>
        </p:spPr>
      </p:pic>
      <p:sp>
        <p:nvSpPr>
          <p:cNvPr id="5" name="TextBox 4">
            <a:extLst>
              <a:ext uri="{FF2B5EF4-FFF2-40B4-BE49-F238E27FC236}">
                <a16:creationId xmlns:a16="http://schemas.microsoft.com/office/drawing/2014/main" id="{C32F7AF5-1AE8-881E-3CB4-0BF694B0F864}"/>
              </a:ext>
            </a:extLst>
          </p:cNvPr>
          <p:cNvSpPr txBox="1"/>
          <p:nvPr/>
        </p:nvSpPr>
        <p:spPr>
          <a:xfrm>
            <a:off x="7045036" y="366052"/>
            <a:ext cx="7315200" cy="1077218"/>
          </a:xfrm>
          <a:prstGeom prst="rect">
            <a:avLst/>
          </a:prstGeom>
          <a:noFill/>
        </p:spPr>
        <p:txBody>
          <a:bodyPr wrap="square">
            <a:spAutoFit/>
          </a:bodyPr>
          <a:lstStyle/>
          <a:p>
            <a:r>
              <a:rPr lang="en-US" sz="3200" dirty="0">
                <a:effectLst>
                  <a:outerShdw blurRad="38100" dist="38100" dir="2700000" algn="tl">
                    <a:srgbClr val="000000">
                      <a:alpha val="43137"/>
                    </a:srgbClr>
                  </a:outerShdw>
                </a:effectLst>
              </a:rPr>
              <a:t>Advanced </a:t>
            </a:r>
            <a:r>
              <a:rPr lang="en-US" sz="3200" dirty="0" err="1">
                <a:effectLst>
                  <a:outerShdw blurRad="38100" dist="38100" dir="2700000" algn="tl">
                    <a:srgbClr val="000000">
                      <a:alpha val="43137"/>
                    </a:srgbClr>
                  </a:outerShdw>
                </a:effectLst>
              </a:rPr>
              <a:t>XGBoost</a:t>
            </a:r>
            <a:r>
              <a:rPr lang="en-US" sz="3200" dirty="0">
                <a:effectLst>
                  <a:outerShdw blurRad="38100" dist="38100" dir="2700000" algn="tl">
                    <a:srgbClr val="000000">
                      <a:alpha val="43137"/>
                    </a:srgbClr>
                  </a:outerShdw>
                </a:effectLst>
              </a:rPr>
              <a:t> Modeling for Churn Prediction</a:t>
            </a:r>
          </a:p>
        </p:txBody>
      </p:sp>
      <p:sp>
        <p:nvSpPr>
          <p:cNvPr id="7" name="TextBox 6">
            <a:extLst>
              <a:ext uri="{FF2B5EF4-FFF2-40B4-BE49-F238E27FC236}">
                <a16:creationId xmlns:a16="http://schemas.microsoft.com/office/drawing/2014/main" id="{DA40612F-B99B-9C5B-EFB2-40D241AFE79B}"/>
              </a:ext>
            </a:extLst>
          </p:cNvPr>
          <p:cNvSpPr txBox="1"/>
          <p:nvPr/>
        </p:nvSpPr>
        <p:spPr>
          <a:xfrm>
            <a:off x="7065818" y="2496326"/>
            <a:ext cx="6182591" cy="1200329"/>
          </a:xfrm>
          <a:prstGeom prst="rect">
            <a:avLst/>
          </a:prstGeom>
          <a:noFill/>
        </p:spPr>
        <p:txBody>
          <a:bodyPr wrap="square">
            <a:spAutoFit/>
          </a:bodyPr>
          <a:lstStyle/>
          <a:p>
            <a:pPr>
              <a:buNone/>
            </a:pPr>
            <a:r>
              <a:rPr lang="en-US" dirty="0"/>
              <a:t>This Python code prepares the dataset for the final prediction stage by </a:t>
            </a:r>
            <a:r>
              <a:rPr lang="en-US" b="1" dirty="0"/>
              <a:t>encoding the target variable ('Churn')</a:t>
            </a:r>
            <a:r>
              <a:rPr lang="en-US" dirty="0"/>
              <a:t> and </a:t>
            </a:r>
            <a:r>
              <a:rPr lang="en-US" b="1" dirty="0"/>
              <a:t>splitting the data for training and testing</a:t>
            </a:r>
            <a:r>
              <a:rPr lang="en-US" dirty="0"/>
              <a:t>. It then initiates the </a:t>
            </a:r>
            <a:r>
              <a:rPr lang="en-US" b="1" dirty="0" err="1"/>
              <a:t>XGBoost</a:t>
            </a:r>
            <a:r>
              <a:rPr lang="en-US" b="1" dirty="0"/>
              <a:t> Classifier model</a:t>
            </a:r>
            <a:r>
              <a:rPr lang="en-US" dirty="0"/>
              <a:t> for building a robust predictive solution.</a:t>
            </a:r>
          </a:p>
        </p:txBody>
      </p:sp>
    </p:spTree>
    <p:extLst>
      <p:ext uri="{BB962C8B-B14F-4D97-AF65-F5344CB8AC3E}">
        <p14:creationId xmlns:p14="http://schemas.microsoft.com/office/powerpoint/2010/main" val="468804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103544" y="729138"/>
            <a:ext cx="7556421" cy="1133951"/>
          </a:xfrm>
          <a:prstGeom prst="rect">
            <a:avLst/>
          </a:prstGeom>
          <a:noFill/>
          <a:ln/>
        </p:spPr>
        <p:txBody>
          <a:bodyPr wrap="square" lIns="0" tIns="0" rIns="0" bIns="0" rtlCol="0" anchor="t"/>
          <a:lstStyle/>
          <a:p>
            <a:pPr>
              <a:lnSpc>
                <a:spcPts val="4450"/>
              </a:lnSpc>
            </a:pPr>
            <a:r>
              <a:rPr lang="en-US" sz="3200" dirty="0">
                <a:effectLst>
                  <a:outerShdw blurRad="38100" dist="38100" dir="2700000" algn="tl">
                    <a:srgbClr val="000000">
                      <a:alpha val="43137"/>
                    </a:srgbClr>
                  </a:outerShdw>
                </a:effectLst>
                <a:latin typeface="Libre Baskerville" pitchFamily="34" charset="0"/>
                <a:ea typeface="Libre Baskerville" pitchFamily="34" charset="-122"/>
                <a:cs typeface="Libre Baskerville" pitchFamily="34" charset="-120"/>
              </a:rPr>
              <a:t>Implementing Data Modeling: The Star Schema</a:t>
            </a:r>
            <a:endParaRPr lang="en-US" sz="3200" dirty="0">
              <a:effectLst>
                <a:outerShdw blurRad="38100" dist="38100" dir="2700000" algn="tl">
                  <a:srgbClr val="000000">
                    <a:alpha val="43137"/>
                  </a:srgbClr>
                </a:outerShdw>
              </a:effectLst>
            </a:endParaRPr>
          </a:p>
          <a:p>
            <a:pPr marL="0" indent="0" algn="l">
              <a:lnSpc>
                <a:spcPts val="4450"/>
              </a:lnSpc>
              <a:buNone/>
            </a:pPr>
            <a:endParaRPr lang="en-US" sz="3550" dirty="0"/>
          </a:p>
        </p:txBody>
      </p:sp>
      <p:sp>
        <p:nvSpPr>
          <p:cNvPr id="4" name="Text 1"/>
          <p:cNvSpPr/>
          <p:nvPr/>
        </p:nvSpPr>
        <p:spPr>
          <a:xfrm>
            <a:off x="6249710" y="2496968"/>
            <a:ext cx="7556421" cy="1451610"/>
          </a:xfrm>
          <a:prstGeom prst="rect">
            <a:avLst/>
          </a:prstGeom>
          <a:noFill/>
          <a:ln/>
        </p:spPr>
        <p:txBody>
          <a:bodyPr wrap="square" lIns="0" tIns="0" rIns="0" bIns="0" rtlCol="0" anchor="t"/>
          <a:lstStyle/>
          <a:p>
            <a:pPr marL="0" indent="0" algn="l">
              <a:lnSpc>
                <a:spcPts val="2850"/>
              </a:lnSpc>
              <a:buNone/>
            </a:pPr>
            <a:r>
              <a:rPr lang="en-US" sz="1750" dirty="0">
                <a:latin typeface="DM Sans" pitchFamily="34" charset="0"/>
                <a:ea typeface="DM Sans" pitchFamily="34" charset="-122"/>
                <a:cs typeface="DM Sans" pitchFamily="34" charset="-120"/>
              </a:rPr>
              <a:t>This screenshot illustrates the conceptual design of our Star Schema for churn analysis. The central fact table would contain key metrics, linked to dimension tables such as customer demographics, service usage, and transaction history.</a:t>
            </a:r>
            <a:endParaRPr lang="en-US" sz="1750" dirty="0"/>
          </a:p>
        </p:txBody>
      </p:sp>
      <p:sp>
        <p:nvSpPr>
          <p:cNvPr id="5" name="Shape 2"/>
          <p:cNvSpPr/>
          <p:nvPr/>
        </p:nvSpPr>
        <p:spPr>
          <a:xfrm>
            <a:off x="6280190" y="4476869"/>
            <a:ext cx="7556421" cy="2456617"/>
          </a:xfrm>
          <a:prstGeom prst="roundRect">
            <a:avLst>
              <a:gd name="adj" fmla="val 5956"/>
            </a:avLst>
          </a:prstGeom>
          <a:solidFill>
            <a:srgbClr val="FFFDFA"/>
          </a:solidFill>
          <a:ln w="30480">
            <a:solidFill>
              <a:srgbClr val="DDD3BA"/>
            </a:solidFill>
            <a:prstDash val="solid"/>
          </a:ln>
        </p:spPr>
        <p:txBody>
          <a:bodyPr/>
          <a:lstStyle/>
          <a:p>
            <a:endParaRPr lang="en-GB"/>
          </a:p>
        </p:txBody>
      </p:sp>
      <p:sp>
        <p:nvSpPr>
          <p:cNvPr id="6" name="Shape 3"/>
          <p:cNvSpPr/>
          <p:nvPr/>
        </p:nvSpPr>
        <p:spPr>
          <a:xfrm>
            <a:off x="6249710" y="4476869"/>
            <a:ext cx="121920" cy="2456617"/>
          </a:xfrm>
          <a:prstGeom prst="roundRect">
            <a:avLst>
              <a:gd name="adj" fmla="val 78139"/>
            </a:avLst>
          </a:prstGeom>
          <a:solidFill>
            <a:srgbClr val="B88E23"/>
          </a:solidFill>
          <a:ln/>
        </p:spPr>
        <p:txBody>
          <a:bodyPr/>
          <a:lstStyle/>
          <a:p>
            <a:endParaRPr lang="en-GB"/>
          </a:p>
        </p:txBody>
      </p:sp>
      <p:sp>
        <p:nvSpPr>
          <p:cNvPr id="7" name="Text 4"/>
          <p:cNvSpPr/>
          <p:nvPr/>
        </p:nvSpPr>
        <p:spPr>
          <a:xfrm>
            <a:off x="6628924" y="473416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Data Modeling</a:t>
            </a:r>
            <a:endParaRPr lang="en-US" sz="2200" dirty="0"/>
          </a:p>
        </p:txBody>
      </p:sp>
      <p:sp>
        <p:nvSpPr>
          <p:cNvPr id="8" name="Text 5"/>
          <p:cNvSpPr/>
          <p:nvPr/>
        </p:nvSpPr>
        <p:spPr>
          <a:xfrm>
            <a:off x="6628924" y="5224582"/>
            <a:ext cx="6950393" cy="1451610"/>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Data modeling is the process of creating a visual representation of either a whole or a part of an information system to communicate connections between data points and structures. It's crucial for designing efficient databases and data warehouses.</a:t>
            </a:r>
            <a:endParaRPr lang="en-US" sz="1750" dirty="0"/>
          </a:p>
        </p:txBody>
      </p:sp>
      <p:pic>
        <p:nvPicPr>
          <p:cNvPr id="9" name="Picture 8" descr="A screenshot of a computer&#10;&#10;AI-generated content may be incorrect.">
            <a:extLst>
              <a:ext uri="{FF2B5EF4-FFF2-40B4-BE49-F238E27FC236}">
                <a16:creationId xmlns:a16="http://schemas.microsoft.com/office/drawing/2014/main" id="{3C133270-8FE9-7316-5E10-3B7AE2F45127}"/>
              </a:ext>
            </a:extLst>
          </p:cNvPr>
          <p:cNvPicPr>
            <a:picLocks noChangeAspect="1"/>
          </p:cNvPicPr>
          <p:nvPr/>
        </p:nvPicPr>
        <p:blipFill>
          <a:blip r:embed="rId3"/>
          <a:srcRect l="10687" t="19923" r="36137" b="9896"/>
          <a:stretch>
            <a:fillRect/>
          </a:stretch>
        </p:blipFill>
        <p:spPr>
          <a:xfrm>
            <a:off x="187036" y="568534"/>
            <a:ext cx="5483630" cy="67600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6016" y="945048"/>
            <a:ext cx="6912293" cy="361474"/>
          </a:xfrm>
          <a:prstGeom prst="rect">
            <a:avLst/>
          </a:prstGeom>
          <a:noFill/>
          <a:ln/>
        </p:spPr>
        <p:txBody>
          <a:bodyPr wrap="none" lIns="0" tIns="0" rIns="0" bIns="0" rtlCol="0" anchor="t"/>
          <a:lstStyle/>
          <a:p>
            <a:pPr marL="0" indent="0" algn="l">
              <a:lnSpc>
                <a:spcPts val="2800"/>
              </a:lnSpc>
              <a:buNone/>
            </a:pPr>
            <a:r>
              <a:rPr lang="en-US" sz="3200" dirty="0">
                <a:solidFill>
                  <a:srgbClr val="5C4E3D"/>
                </a:solidFill>
                <a:effectLst>
                  <a:outerShdw blurRad="38100" dist="38100" dir="2700000" algn="tl">
                    <a:srgbClr val="000000">
                      <a:alpha val="43137"/>
                    </a:srgbClr>
                  </a:outerShdw>
                </a:effectLst>
                <a:latin typeface="Libre Baskerville" pitchFamily="34" charset="0"/>
                <a:ea typeface="Libre Baskerville" pitchFamily="34" charset="-122"/>
                <a:cs typeface="Libre Baskerville" pitchFamily="34" charset="-120"/>
              </a:rPr>
              <a:t>Phase 3: Insights &amp; Visualization with Power BI</a:t>
            </a:r>
            <a:endParaRPr lang="en-US" sz="3200" dirty="0">
              <a:effectLst>
                <a:outerShdw blurRad="38100" dist="38100" dir="2700000" algn="tl">
                  <a:srgbClr val="000000">
                    <a:alpha val="43137"/>
                  </a:srgbClr>
                </a:outerShdw>
              </a:effectLst>
            </a:endParaRPr>
          </a:p>
        </p:txBody>
      </p:sp>
      <p:sp>
        <p:nvSpPr>
          <p:cNvPr id="4" name="Text 2"/>
          <p:cNvSpPr/>
          <p:nvPr/>
        </p:nvSpPr>
        <p:spPr>
          <a:xfrm>
            <a:off x="722828" y="2854763"/>
            <a:ext cx="4592468" cy="3449782"/>
          </a:xfrm>
          <a:prstGeom prst="rect">
            <a:avLst/>
          </a:prstGeom>
          <a:noFill/>
          <a:ln/>
        </p:spPr>
        <p:txBody>
          <a:bodyPr wrap="square" lIns="0" tIns="0" rIns="0" bIns="0" rtlCol="0" anchor="t"/>
          <a:lstStyle/>
          <a:p>
            <a:pPr marL="0" indent="0" algn="l">
              <a:lnSpc>
                <a:spcPts val="1800"/>
              </a:lnSpc>
              <a:buNone/>
            </a:pPr>
            <a:r>
              <a:rPr lang="en-US" sz="1600" dirty="0">
                <a:solidFill>
                  <a:srgbClr val="454240"/>
                </a:solidFill>
                <a:latin typeface="DM Sans" pitchFamily="34" charset="0"/>
                <a:ea typeface="DM Sans" pitchFamily="34" charset="-122"/>
                <a:cs typeface="DM Sans" pitchFamily="34" charset="-120"/>
              </a:rPr>
              <a:t>The final phase focuses on translating complex data and model predictions into intuitive, interactive dashboards. Our goal was to empower business users with clear, actionable insights to drive customer retention strategies.</a:t>
            </a:r>
            <a:endParaRPr lang="en-US" sz="1600" dirty="0"/>
          </a:p>
        </p:txBody>
      </p:sp>
      <p:sp>
        <p:nvSpPr>
          <p:cNvPr id="9" name="Text 6"/>
          <p:cNvSpPr/>
          <p:nvPr/>
        </p:nvSpPr>
        <p:spPr>
          <a:xfrm>
            <a:off x="722828" y="8313420"/>
            <a:ext cx="1807250" cy="225862"/>
          </a:xfrm>
          <a:prstGeom prst="rect">
            <a:avLst/>
          </a:prstGeom>
          <a:noFill/>
          <a:ln/>
        </p:spPr>
        <p:txBody>
          <a:bodyPr wrap="none" lIns="0" tIns="0" rIns="0" bIns="0" rtlCol="0" anchor="t"/>
          <a:lstStyle/>
          <a:p>
            <a:pPr marL="0" indent="0" algn="l">
              <a:lnSpc>
                <a:spcPts val="1750"/>
              </a:lnSpc>
              <a:buNone/>
            </a:pPr>
            <a:r>
              <a:rPr lang="en-US" sz="1400" dirty="0">
                <a:solidFill>
                  <a:srgbClr val="5C4E3D"/>
                </a:solidFill>
                <a:latin typeface="Libre Baskerville" pitchFamily="34" charset="0"/>
                <a:ea typeface="Libre Baskerville" pitchFamily="34" charset="-122"/>
                <a:cs typeface="Libre Baskerville" pitchFamily="34" charset="-120"/>
              </a:rPr>
              <a:t>Extracting Insights</a:t>
            </a:r>
            <a:endParaRPr lang="en-US" sz="1400" dirty="0"/>
          </a:p>
        </p:txBody>
      </p:sp>
      <p:sp>
        <p:nvSpPr>
          <p:cNvPr id="10" name="Text 7"/>
          <p:cNvSpPr/>
          <p:nvPr/>
        </p:nvSpPr>
        <p:spPr>
          <a:xfrm>
            <a:off x="722828" y="8756094"/>
            <a:ext cx="13401556" cy="462439"/>
          </a:xfrm>
          <a:prstGeom prst="rect">
            <a:avLst/>
          </a:prstGeom>
          <a:noFill/>
          <a:ln/>
        </p:spPr>
        <p:txBody>
          <a:bodyPr wrap="square" lIns="0" tIns="0" rIns="0" bIns="0" rtlCol="0" anchor="t"/>
          <a:lstStyle/>
          <a:p>
            <a:pPr marL="0" indent="0" algn="l">
              <a:lnSpc>
                <a:spcPts val="1800"/>
              </a:lnSpc>
              <a:buNone/>
            </a:pPr>
            <a:r>
              <a:rPr lang="en-US" sz="1100" dirty="0">
                <a:solidFill>
                  <a:srgbClr val="454240"/>
                </a:solidFill>
                <a:latin typeface="DM Sans" pitchFamily="34" charset="0"/>
                <a:ea typeface="DM Sans" pitchFamily="34" charset="-122"/>
                <a:cs typeface="DM Sans" pitchFamily="34" charset="-120"/>
              </a:rPr>
              <a:t>Our Power BI dashboards allow stakeholders to explore churn trends, identify high-risk customer segments, and understand the factors contributing to churn. This visual approach facilitates quicker decision-making and more targeted retention efforts.</a:t>
            </a:r>
            <a:endParaRPr lang="en-US" sz="1100" dirty="0"/>
          </a:p>
        </p:txBody>
      </p:sp>
      <p:sp>
        <p:nvSpPr>
          <p:cNvPr id="11" name="Shape 8"/>
          <p:cNvSpPr/>
          <p:nvPr/>
        </p:nvSpPr>
        <p:spPr>
          <a:xfrm>
            <a:off x="506016" y="8096607"/>
            <a:ext cx="15240" cy="1284565"/>
          </a:xfrm>
          <a:prstGeom prst="rect">
            <a:avLst/>
          </a:prstGeom>
          <a:solidFill>
            <a:srgbClr val="B88E23"/>
          </a:solidFill>
          <a:ln/>
        </p:spPr>
        <p:txBody>
          <a:bodyPr/>
          <a:lstStyle/>
          <a:p>
            <a:endParaRPr lang="en-GB"/>
          </a:p>
        </p:txBody>
      </p:sp>
      <p:pic>
        <p:nvPicPr>
          <p:cNvPr id="6" name="Picture 5" descr="A screenshot of a computer&#10;&#10;AI-generated content may be incorrect.">
            <a:extLst>
              <a:ext uri="{FF2B5EF4-FFF2-40B4-BE49-F238E27FC236}">
                <a16:creationId xmlns:a16="http://schemas.microsoft.com/office/drawing/2014/main" id="{50BBC606-2BD8-AEF0-04D1-AF97767BE75B}"/>
              </a:ext>
            </a:extLst>
          </p:cNvPr>
          <p:cNvPicPr>
            <a:picLocks noChangeAspect="1"/>
          </p:cNvPicPr>
          <p:nvPr/>
        </p:nvPicPr>
        <p:blipFill>
          <a:blip r:embed="rId3"/>
          <a:stretch>
            <a:fillRect/>
          </a:stretch>
        </p:blipFill>
        <p:spPr>
          <a:xfrm>
            <a:off x="5517999" y="2628900"/>
            <a:ext cx="8606385" cy="44066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5908" y="469106"/>
            <a:ext cx="8728948" cy="425648"/>
          </a:xfrm>
          <a:prstGeom prst="rect">
            <a:avLst/>
          </a:prstGeom>
          <a:noFill/>
          <a:ln/>
        </p:spPr>
        <p:txBody>
          <a:bodyPr wrap="none" lIns="0" tIns="0" rIns="0" bIns="0" rtlCol="0" anchor="t"/>
          <a:lstStyle/>
          <a:p>
            <a:pPr marL="0" indent="0" algn="l">
              <a:lnSpc>
                <a:spcPts val="3350"/>
              </a:lnSpc>
              <a:buNone/>
            </a:pPr>
            <a:r>
              <a:rPr lang="en-US" sz="2650" dirty="0">
                <a:solidFill>
                  <a:srgbClr val="5C4E3D"/>
                </a:solidFill>
                <a:latin typeface="Libre Baskerville" pitchFamily="34" charset="0"/>
                <a:ea typeface="Libre Baskerville" pitchFamily="34" charset="-122"/>
                <a:cs typeface="Libre Baskerville" pitchFamily="34" charset="-120"/>
              </a:rPr>
              <a:t>Conclusion: From Raw Data to Actionable Insights</a:t>
            </a:r>
            <a:endParaRPr lang="en-US" sz="2650" dirty="0"/>
          </a:p>
        </p:txBody>
      </p:sp>
      <p:pic>
        <p:nvPicPr>
          <p:cNvPr id="3" name="Image 0" descr="preencoded.png"/>
          <p:cNvPicPr>
            <a:picLocks noChangeAspect="1"/>
          </p:cNvPicPr>
          <p:nvPr/>
        </p:nvPicPr>
        <p:blipFill>
          <a:blip r:embed="rId3"/>
          <a:stretch>
            <a:fillRect/>
          </a:stretch>
        </p:blipFill>
        <p:spPr>
          <a:xfrm>
            <a:off x="595908" y="1235273"/>
            <a:ext cx="510778" cy="1143000"/>
          </a:xfrm>
          <a:prstGeom prst="rect">
            <a:avLst/>
          </a:prstGeom>
        </p:spPr>
      </p:pic>
      <p:sp>
        <p:nvSpPr>
          <p:cNvPr id="4" name="Text 1"/>
          <p:cNvSpPr/>
          <p:nvPr/>
        </p:nvSpPr>
        <p:spPr>
          <a:xfrm>
            <a:off x="1276945" y="1405533"/>
            <a:ext cx="2128242" cy="266105"/>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Raw Data Input</a:t>
            </a:r>
            <a:endParaRPr lang="en-US" sz="1650" dirty="0"/>
          </a:p>
        </p:txBody>
      </p:sp>
      <p:sp>
        <p:nvSpPr>
          <p:cNvPr id="5" name="Text 2"/>
          <p:cNvSpPr/>
          <p:nvPr/>
        </p:nvSpPr>
        <p:spPr>
          <a:xfrm>
            <a:off x="1276945" y="1773793"/>
            <a:ext cx="12757547" cy="272415"/>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Began with diverse, unrefined customer transaction and interaction data.</a:t>
            </a:r>
            <a:endParaRPr lang="en-US" sz="1300" dirty="0"/>
          </a:p>
        </p:txBody>
      </p:sp>
      <p:pic>
        <p:nvPicPr>
          <p:cNvPr id="6" name="Image 1" descr="preencoded.png"/>
          <p:cNvPicPr>
            <a:picLocks noChangeAspect="1"/>
          </p:cNvPicPr>
          <p:nvPr/>
        </p:nvPicPr>
        <p:blipFill>
          <a:blip r:embed="rId3"/>
          <a:stretch>
            <a:fillRect/>
          </a:stretch>
        </p:blipFill>
        <p:spPr>
          <a:xfrm>
            <a:off x="595909" y="2427089"/>
            <a:ext cx="510778" cy="1143000"/>
          </a:xfrm>
          <a:prstGeom prst="rect">
            <a:avLst/>
          </a:prstGeom>
        </p:spPr>
      </p:pic>
      <p:sp>
        <p:nvSpPr>
          <p:cNvPr id="7" name="Text 3"/>
          <p:cNvSpPr/>
          <p:nvPr/>
        </p:nvSpPr>
        <p:spPr>
          <a:xfrm>
            <a:off x="1532334" y="2597348"/>
            <a:ext cx="2283619" cy="266105"/>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Data Transformation</a:t>
            </a:r>
            <a:endParaRPr lang="en-US" sz="1650" dirty="0"/>
          </a:p>
        </p:txBody>
      </p:sp>
      <p:sp>
        <p:nvSpPr>
          <p:cNvPr id="8" name="Text 4"/>
          <p:cNvSpPr/>
          <p:nvPr/>
        </p:nvSpPr>
        <p:spPr>
          <a:xfrm>
            <a:off x="1532334" y="2965609"/>
            <a:ext cx="12502158" cy="272415"/>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Cleaned, structured, and modeled data into a robust Star Schema.</a:t>
            </a:r>
            <a:endParaRPr lang="en-US" sz="1300" dirty="0"/>
          </a:p>
        </p:txBody>
      </p:sp>
      <p:pic>
        <p:nvPicPr>
          <p:cNvPr id="9" name="Image 2" descr="preencoded.png"/>
          <p:cNvPicPr>
            <a:picLocks noChangeAspect="1"/>
          </p:cNvPicPr>
          <p:nvPr/>
        </p:nvPicPr>
        <p:blipFill>
          <a:blip r:embed="rId3"/>
          <a:stretch>
            <a:fillRect/>
          </a:stretch>
        </p:blipFill>
        <p:spPr>
          <a:xfrm>
            <a:off x="595908" y="3629296"/>
            <a:ext cx="510778" cy="1143000"/>
          </a:xfrm>
          <a:prstGeom prst="rect">
            <a:avLst/>
          </a:prstGeom>
        </p:spPr>
      </p:pic>
      <p:sp>
        <p:nvSpPr>
          <p:cNvPr id="10" name="Text 5"/>
          <p:cNvSpPr/>
          <p:nvPr/>
        </p:nvSpPr>
        <p:spPr>
          <a:xfrm>
            <a:off x="1543212" y="3782853"/>
            <a:ext cx="2437090" cy="266105"/>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Automated Processing</a:t>
            </a:r>
            <a:endParaRPr lang="en-US" sz="1650" dirty="0"/>
          </a:p>
        </p:txBody>
      </p:sp>
      <p:sp>
        <p:nvSpPr>
          <p:cNvPr id="11" name="Text 6"/>
          <p:cNvSpPr/>
          <p:nvPr/>
        </p:nvSpPr>
        <p:spPr>
          <a:xfrm>
            <a:off x="1543212" y="4097775"/>
            <a:ext cx="12246769" cy="272415"/>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Leveraged Airflow for reliable and scalable ETL and model training.</a:t>
            </a:r>
            <a:endParaRPr lang="en-US" sz="1300" dirty="0"/>
          </a:p>
        </p:txBody>
      </p:sp>
      <p:pic>
        <p:nvPicPr>
          <p:cNvPr id="12" name="Image 3" descr="preencoded.png"/>
          <p:cNvPicPr>
            <a:picLocks noChangeAspect="1"/>
          </p:cNvPicPr>
          <p:nvPr/>
        </p:nvPicPr>
        <p:blipFill>
          <a:blip r:embed="rId3"/>
          <a:stretch>
            <a:fillRect/>
          </a:stretch>
        </p:blipFill>
        <p:spPr>
          <a:xfrm>
            <a:off x="595907" y="4810720"/>
            <a:ext cx="510778" cy="1143000"/>
          </a:xfrm>
          <a:prstGeom prst="rect">
            <a:avLst/>
          </a:prstGeom>
        </p:spPr>
      </p:pic>
      <p:sp>
        <p:nvSpPr>
          <p:cNvPr id="13" name="Text 7"/>
          <p:cNvSpPr/>
          <p:nvPr/>
        </p:nvSpPr>
        <p:spPr>
          <a:xfrm>
            <a:off x="1532334" y="4963836"/>
            <a:ext cx="2204085" cy="266105"/>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Predictive Modeling</a:t>
            </a:r>
            <a:endParaRPr lang="en-US" sz="1650" dirty="0"/>
          </a:p>
        </p:txBody>
      </p:sp>
      <p:sp>
        <p:nvSpPr>
          <p:cNvPr id="14" name="Text 8"/>
          <p:cNvSpPr/>
          <p:nvPr/>
        </p:nvSpPr>
        <p:spPr>
          <a:xfrm>
            <a:off x="1532334" y="5338265"/>
            <a:ext cx="11991380" cy="272415"/>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Built a classification model to identify high-risk churn customers.</a:t>
            </a:r>
            <a:endParaRPr lang="en-US" sz="1300" dirty="0"/>
          </a:p>
        </p:txBody>
      </p:sp>
      <p:pic>
        <p:nvPicPr>
          <p:cNvPr id="15" name="Image 4" descr="preencoded.png"/>
          <p:cNvPicPr>
            <a:picLocks noChangeAspect="1"/>
          </p:cNvPicPr>
          <p:nvPr/>
        </p:nvPicPr>
        <p:blipFill>
          <a:blip r:embed="rId3"/>
          <a:stretch>
            <a:fillRect/>
          </a:stretch>
        </p:blipFill>
        <p:spPr>
          <a:xfrm>
            <a:off x="595909" y="6029206"/>
            <a:ext cx="510778" cy="1143000"/>
          </a:xfrm>
          <a:prstGeom prst="rect">
            <a:avLst/>
          </a:prstGeom>
        </p:spPr>
      </p:pic>
      <p:sp>
        <p:nvSpPr>
          <p:cNvPr id="16" name="Text 9"/>
          <p:cNvSpPr/>
          <p:nvPr/>
        </p:nvSpPr>
        <p:spPr>
          <a:xfrm>
            <a:off x="1532334" y="6172795"/>
            <a:ext cx="2128242" cy="266105"/>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Actionable Insights</a:t>
            </a:r>
            <a:endParaRPr lang="en-US" sz="1650" dirty="0"/>
          </a:p>
        </p:txBody>
      </p:sp>
      <p:sp>
        <p:nvSpPr>
          <p:cNvPr id="17" name="Text 10"/>
          <p:cNvSpPr/>
          <p:nvPr/>
        </p:nvSpPr>
        <p:spPr>
          <a:xfrm>
            <a:off x="1532333" y="6551652"/>
            <a:ext cx="12246769" cy="272415"/>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Delivered interactive Power BI dashboards for strategic decision-making.</a:t>
            </a:r>
            <a:endParaRPr lang="en-US" sz="1300" dirty="0"/>
          </a:p>
        </p:txBody>
      </p:sp>
      <p:sp>
        <p:nvSpPr>
          <p:cNvPr id="18" name="Text 11"/>
          <p:cNvSpPr/>
          <p:nvPr/>
        </p:nvSpPr>
        <p:spPr>
          <a:xfrm>
            <a:off x="595909" y="7085886"/>
            <a:ext cx="13438584" cy="544830"/>
          </a:xfrm>
          <a:prstGeom prst="rect">
            <a:avLst/>
          </a:prstGeom>
          <a:noFill/>
          <a:ln/>
        </p:spPr>
        <p:txBody>
          <a:bodyPr wrap="squar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This pipeline has significantly improved data quality, automated processing workflows, and provided invaluable business understanding, enabling proactive customer retention strategies.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E4C669-AA81-DDFE-6BFD-8819D0D61BED}"/>
              </a:ext>
            </a:extLst>
          </p:cNvPr>
          <p:cNvSpPr txBox="1"/>
          <p:nvPr/>
        </p:nvSpPr>
        <p:spPr>
          <a:xfrm>
            <a:off x="5247409" y="3334435"/>
            <a:ext cx="7315200" cy="1107996"/>
          </a:xfrm>
          <a:prstGeom prst="rect">
            <a:avLst/>
          </a:prstGeom>
          <a:noFill/>
        </p:spPr>
        <p:txBody>
          <a:bodyPr wrap="square">
            <a:spAutoFit/>
          </a:bodyPr>
          <a:lstStyle/>
          <a:p>
            <a:r>
              <a:rPr lang="en-US" sz="6600" dirty="0">
                <a:effectLst>
                  <a:outerShdw blurRad="38100" dist="38100" dir="2700000" algn="tl">
                    <a:srgbClr val="000000">
                      <a:alpha val="43137"/>
                    </a:srgbClr>
                  </a:outerShdw>
                </a:effectLst>
              </a:rPr>
              <a:t>Thank you</a:t>
            </a:r>
          </a:p>
        </p:txBody>
      </p:sp>
    </p:spTree>
    <p:extLst>
      <p:ext uri="{BB962C8B-B14F-4D97-AF65-F5344CB8AC3E}">
        <p14:creationId xmlns:p14="http://schemas.microsoft.com/office/powerpoint/2010/main" val="1525591826"/>
      </p:ext>
    </p:extLst>
  </p:cSld>
  <p:clrMapOvr>
    <a:masterClrMapping/>
  </p:clrMapOvr>
</p:sld>
</file>

<file path=ppt/theme/theme1.xml><?xml version="1.0" encoding="utf-8"?>
<a:theme xmlns:a="http://schemas.openxmlformats.org/drawingml/2006/main" name="Retrospect">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372</TotalTime>
  <Words>1134</Words>
  <Application>Microsoft Office PowerPoint</Application>
  <PresentationFormat>Custom</PresentationFormat>
  <Paragraphs>82</Paragraphs>
  <Slides>14</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Calibri</vt:lpstr>
      <vt:lpstr>Courier New</vt:lpstr>
      <vt:lpstr>Calibri Light</vt:lpstr>
      <vt:lpstr>Libre Baskerville</vt:lpstr>
      <vt:lpstr>DM Sans</vt:lpstr>
      <vt:lpstr>Arial</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Mohamed Asaad</dc:creator>
  <cp:lastModifiedBy>saja Emam</cp:lastModifiedBy>
  <cp:revision>4</cp:revision>
  <dcterms:created xsi:type="dcterms:W3CDTF">2025-12-01T19:46:06Z</dcterms:created>
  <dcterms:modified xsi:type="dcterms:W3CDTF">2025-12-07T21:02:10Z</dcterms:modified>
</cp:coreProperties>
</file>